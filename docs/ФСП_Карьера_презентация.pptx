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365" r:id="rId3"/>
    <p:sldId id="366" r:id="rId5"/>
    <p:sldId id="362" r:id="rId6"/>
    <p:sldId id="364" r:id="rId7"/>
    <p:sldId id="375" r:id="rId8"/>
    <p:sldId id="268" r:id="rId9"/>
    <p:sldId id="267" r:id="rId10"/>
    <p:sldId id="371" r:id="rId11"/>
    <p:sldId id="263" r:id="rId12"/>
    <p:sldId id="262" r:id="rId13"/>
    <p:sldId id="266" r:id="rId14"/>
    <p:sldId id="374" r:id="rId15"/>
    <p:sldId id="260" r:id="rId16"/>
    <p:sldId id="376" r:id="rId17"/>
    <p:sldId id="270" r:id="rId18"/>
    <p:sldId id="370" r:id="rId19"/>
    <p:sldId id="372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16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36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56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96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268"/>
            <p14:sldId id="267"/>
            <p14:sldId id="371"/>
            <p14:sldId id="263"/>
            <p14:sldId id="262"/>
            <p14:sldId id="266"/>
            <p14:sldId id="374"/>
            <p14:sldId id="260"/>
            <p14:sldId id="376"/>
            <p14:sldId id="270"/>
            <p14:sldId id="370"/>
            <p14:sldId id="372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3002416824"/>
          <c:y val="0.126935253903676"/>
          <c:w val="0.926086023390575"/>
          <c:h val="0.6674714227166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Точно, %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Sheet1!$A$2:$A$3</c:f>
              <c:strCache>
                <c:ptCount val="2"/>
                <c:pt idx="0">
                  <c:v>Совпал с настоящим уровнем</c:v>
                </c:pt>
                <c:pt idx="1">
                  <c:v>Повторная сдача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66.5</c:v>
                </c:pt>
                <c:pt idx="1">
                  <c:v>61.2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±1 ступень, %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Sheet1!$A$2:$A$3</c:f>
              <c:strCache>
                <c:ptCount val="2"/>
                <c:pt idx="0">
                  <c:v>Совпал с настоящим уровнем</c:v>
                </c:pt>
                <c:pt idx="1">
                  <c:v>Повторная сдача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97.5</c:v>
                </c:pt>
                <c:pt idx="1">
                  <c:v>96.4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</a:p>
        </c:txPr>
        <c:crossAx val="1688540351"/>
        <c:crosses val="autoZero"/>
        <c:crossBetween val="between"/>
        <c:majorUnit val="2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39330ec6-ee2b-41b3-9171-bcf5c045fc9d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bg1"/>
          </a:solidFill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3"/>
          <c:y val="0.126935253903676"/>
          <c:w val="0.864241707500533"/>
          <c:h val="0.667471422716612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Значение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Поиск по словам, nDCG</c:v>
                </c:pt>
                <c:pt idx="1">
                  <c:v>ФСП Карьера, nDCG</c:v>
                </c:pt>
                <c:pt idx="2">
                  <c:v>Поиск по словам, точность</c:v>
                </c:pt>
                <c:pt idx="3">
                  <c:v>ФСП Карьера, точность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0.26</c:v>
                </c:pt>
                <c:pt idx="1">
                  <c:v>0.58</c:v>
                </c:pt>
                <c:pt idx="2">
                  <c:v>0.46</c:v>
                </c:pt>
                <c:pt idx="3">
                  <c:v>0.82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ea46ba44-309d-49d1-a28b-c1f8fac7a8a0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Здравствуйте! Мы — команда из двух человек, и за хакатон мы сделали ФСП Карьеру. Идея простая: кандидат один раз честно показывает, что умеет, а дальше работодатели приходят к нему сами — с конкретной позицией и зарплатой.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вдвоём сделали работающий сервис от теста до приглашения. Слева — главная страница прототипа.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Нас двое, поэтому каждый закрывал сразу несколько направлений. Впишите имена, роли и контакты.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Расскажите своими словами, как собралась команда. Остальное — про главные трудности.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Технически это обычный веб-сервис, без GPU и платных API. Главная ценность — в механике, а не в стеке.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Это главное отличие от обычных сайтов: инициатива у работодателя, и он видит проверенный уровень, а не самоописание.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 демо проходим этот путь целиком: регистрируемся, сдаём тест, переключаемся на работодателя и приглашаем.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не генерируем вопросы нейросетью на лету: так нельзя гарантировать одинаковую сложность. Вместо этого — шаблоны с известной сложностью, из которых каждый раз получается новый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Реальных кандидатов у нас нет, поэтому мы создали тысячу синтетических с известным уровнем и проверили, как часто тест угадывает. Шесть ступеней — это строго, поэтому точное попадание ниже, чем ±1.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Работодатель может сам поменять веса и сделать любое условие жёстким фильтром — и увидит, сколько людей отсеялось.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Сравнивали с тем, как ищут на обычных сайтах: совпадение слов в резюме и заявленный грейд. Разница почти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сделали ровно так, как просили постановщики: ФСП — бонус внутри категории, а не пропуск в 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демо есть компания, на которую пожаловались трое кандидатов: её приглашения уже остановлены.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Модели маленькие и работают без видеокарты. Персональные данные никуда не отправляются.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переходим к живому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Спасибо!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/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3105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  <a:endParaRPr lang="ru-RU" dirty="0"/>
          </a:p>
        </p:txBody>
      </p:sp>
      <p:sp>
        <p:nvSpPr>
          <p:cNvPr id="42" name="Рисунок 41"/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3105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  <a:endParaRPr lang="ru-RU" sz="1600" b="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/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45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  <a:endParaRPr lang="ru-RU" dirty="0"/>
          </a:p>
        </p:txBody>
      </p:sp>
      <p:sp>
        <p:nvSpPr>
          <p:cNvPr id="47" name="Текст 35"/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780" indent="-144780">
              <a:buClr>
                <a:schemeClr val="accent1"/>
              </a:buClr>
              <a:buFont typeface="Wingdings" panose="05000000000000000000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  <a:endParaRPr lang="ru-RU" dirty="0"/>
          </a:p>
          <a:p>
            <a:pPr lvl="0"/>
            <a:r>
              <a:rPr lang="en-US" dirty="0"/>
              <a:t>Telegram</a:t>
            </a:r>
            <a:endParaRPr lang="en-US" dirty="0"/>
          </a:p>
          <a:p>
            <a:pPr lvl="0"/>
            <a:r>
              <a:rPr lang="ru-RU" dirty="0"/>
              <a:t>Номер</a:t>
            </a:r>
            <a:endParaRPr lang="ru-RU" dirty="0"/>
          </a:p>
        </p:txBody>
      </p:sp>
      <p:sp>
        <p:nvSpPr>
          <p:cNvPr id="49" name="Текст 35"/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780" indent="-144780">
              <a:buClr>
                <a:schemeClr val="accent1"/>
              </a:buClr>
              <a:buFont typeface="Wingdings" panose="05000000000000000000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  <a:endParaRPr lang="ru-RU" dirty="0"/>
          </a:p>
          <a:p>
            <a:pPr lvl="0"/>
            <a:r>
              <a:rPr lang="en-US" dirty="0"/>
              <a:t>Telegram</a:t>
            </a:r>
            <a:endParaRPr lang="en-US" dirty="0"/>
          </a:p>
          <a:p>
            <a:pPr lvl="0"/>
            <a:r>
              <a:rPr lang="ru-RU" dirty="0"/>
              <a:t>Номер</a:t>
            </a:r>
            <a:endParaRPr lang="ru-RU" dirty="0"/>
          </a:p>
        </p:txBody>
      </p:sp>
      <p:sp>
        <p:nvSpPr>
          <p:cNvPr id="51" name="Текст 35"/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780" indent="-144780">
              <a:buClr>
                <a:schemeClr val="accent1"/>
              </a:buClr>
              <a:buFont typeface="Wingdings" panose="05000000000000000000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  <a:endParaRPr lang="ru-RU" dirty="0"/>
          </a:p>
          <a:p>
            <a:pPr lvl="0"/>
            <a:r>
              <a:rPr lang="en-US" dirty="0"/>
              <a:t>Telegram</a:t>
            </a:r>
            <a:endParaRPr lang="en-US" dirty="0"/>
          </a:p>
          <a:p>
            <a:pPr lvl="0"/>
            <a:r>
              <a:rPr lang="ru-RU" dirty="0"/>
              <a:t>Номер</a:t>
            </a:r>
            <a:endParaRPr lang="ru-RU" dirty="0"/>
          </a:p>
        </p:txBody>
      </p:sp>
      <p:sp>
        <p:nvSpPr>
          <p:cNvPr id="53" name="Текст 35"/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780" indent="-144780">
              <a:buClr>
                <a:schemeClr val="accent1"/>
              </a:buClr>
              <a:buFont typeface="Wingdings" panose="05000000000000000000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  <a:endParaRPr lang="ru-RU" dirty="0"/>
          </a:p>
          <a:p>
            <a:pPr lvl="0"/>
            <a:r>
              <a:rPr lang="en-US" dirty="0"/>
              <a:t>Telegram</a:t>
            </a:r>
            <a:endParaRPr lang="en-US" dirty="0"/>
          </a:p>
          <a:p>
            <a:pPr lvl="0"/>
            <a:r>
              <a:rPr lang="ru-RU" dirty="0"/>
              <a:t>Номер</a:t>
            </a:r>
            <a:endParaRPr lang="ru-RU" dirty="0"/>
          </a:p>
        </p:txBody>
      </p:sp>
      <p:sp>
        <p:nvSpPr>
          <p:cNvPr id="55" name="Текст 35"/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780" indent="-144780">
              <a:buClr>
                <a:schemeClr val="accent1"/>
              </a:buClr>
              <a:buFont typeface="Wingdings" panose="05000000000000000000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  <a:endParaRPr lang="ru-RU" dirty="0"/>
          </a:p>
          <a:p>
            <a:pPr lvl="0"/>
            <a:r>
              <a:rPr lang="en-US" dirty="0"/>
              <a:t>Telegram</a:t>
            </a:r>
            <a:endParaRPr lang="en-US" dirty="0"/>
          </a:p>
          <a:p>
            <a:pPr lvl="0"/>
            <a:r>
              <a:rPr lang="ru-RU" dirty="0"/>
              <a:t>Номер</a:t>
            </a:r>
            <a:endParaRPr lang="ru-RU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</a:fld>
            <a:endParaRPr lang="ru-RU"/>
          </a:p>
        </p:txBody>
      </p:sp>
      <p:sp>
        <p:nvSpPr>
          <p:cNvPr id="10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/>
          <p:cNvSpPr>
            <a:spLocks noGrp="1"/>
          </p:cNvSpPr>
          <p:nvPr>
            <p:ph idx="1" hasCustomPrompt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 dirty="0"/>
          </a:p>
        </p:txBody>
      </p:sp>
      <p:sp>
        <p:nvSpPr>
          <p:cNvPr id="21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</a:fld>
            <a:endParaRPr lang="ru-RU"/>
          </a:p>
        </p:txBody>
      </p:sp>
      <p:sp>
        <p:nvSpPr>
          <p:cNvPr id="22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24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  <a:endParaRPr lang="ru-RU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 hasCustomPrompt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 dirty="0"/>
          </a:p>
        </p:txBody>
      </p:sp>
      <p:sp>
        <p:nvSpPr>
          <p:cNvPr id="14" name="Дата 3"/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</a:fld>
            <a:endParaRPr lang="ru-RU"/>
          </a:p>
        </p:txBody>
      </p:sp>
      <p:sp>
        <p:nvSpPr>
          <p:cNvPr id="1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7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560" indent="0">
              <a:buNone/>
              <a:defRPr sz="1265" b="1"/>
            </a:lvl2pPr>
            <a:lvl3pPr marL="578485" indent="0">
              <a:buNone/>
              <a:defRPr sz="1140" b="1"/>
            </a:lvl3pPr>
            <a:lvl4pPr marL="868045" indent="0">
              <a:buNone/>
              <a:defRPr sz="1015" b="1"/>
            </a:lvl4pPr>
            <a:lvl5pPr marL="1157605" indent="0">
              <a:buNone/>
              <a:defRPr sz="1015" b="1"/>
            </a:lvl5pPr>
            <a:lvl6pPr marL="1447165" indent="0">
              <a:buNone/>
              <a:defRPr sz="1015" b="1"/>
            </a:lvl6pPr>
            <a:lvl7pPr marL="1736090" indent="0">
              <a:buNone/>
              <a:defRPr sz="1015" b="1"/>
            </a:lvl7pPr>
            <a:lvl8pPr marL="2025650" indent="0">
              <a:buNone/>
              <a:defRPr sz="1015" b="1"/>
            </a:lvl8pPr>
            <a:lvl9pPr marL="2315210" indent="0">
              <a:buNone/>
              <a:defRPr sz="1015" b="1"/>
            </a:lvl9pPr>
          </a:lstStyle>
          <a:p>
            <a:pPr lvl="0"/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560" indent="0">
              <a:buNone/>
              <a:defRPr sz="1265" b="1"/>
            </a:lvl2pPr>
            <a:lvl3pPr marL="578485" indent="0">
              <a:buNone/>
              <a:defRPr sz="1140" b="1"/>
            </a:lvl3pPr>
            <a:lvl4pPr marL="868045" indent="0">
              <a:buNone/>
              <a:defRPr sz="1015" b="1"/>
            </a:lvl4pPr>
            <a:lvl5pPr marL="1157605" indent="0">
              <a:buNone/>
              <a:defRPr sz="1015" b="1"/>
            </a:lvl5pPr>
            <a:lvl6pPr marL="1447165" indent="0">
              <a:buNone/>
              <a:defRPr sz="1015" b="1"/>
            </a:lvl6pPr>
            <a:lvl7pPr marL="1736090" indent="0">
              <a:buNone/>
              <a:defRPr sz="1015" b="1"/>
            </a:lvl7pPr>
            <a:lvl8pPr marL="2025650" indent="0">
              <a:buNone/>
              <a:defRPr sz="1015" b="1"/>
            </a:lvl8pPr>
            <a:lvl9pPr marL="2315210" indent="0">
              <a:buNone/>
              <a:defRPr sz="1015" b="1"/>
            </a:lvl9pPr>
          </a:lstStyle>
          <a:p>
            <a:pPr lvl="0"/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12" name="Дата 3"/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</a:fld>
            <a:endParaRPr lang="ru-RU"/>
          </a:p>
        </p:txBody>
      </p:sp>
      <p:sp>
        <p:nvSpPr>
          <p:cNvPr id="13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5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5"/>
            </a:lvl1pPr>
            <a:lvl2pPr>
              <a:defRPr sz="1520"/>
            </a:lvl2pPr>
            <a:lvl3pPr>
              <a:defRPr sz="1265"/>
            </a:lvl3pPr>
            <a:lvl4pPr>
              <a:defRPr sz="1140"/>
            </a:lvl4pPr>
            <a:lvl5pPr>
              <a:defRPr sz="1140"/>
            </a:lvl5pPr>
            <a:lvl6pPr>
              <a:defRPr sz="1265"/>
            </a:lvl6pPr>
            <a:lvl7pPr>
              <a:defRPr sz="1265"/>
            </a:lvl7pPr>
            <a:lvl8pPr>
              <a:defRPr sz="1265"/>
            </a:lvl8pPr>
            <a:lvl9pPr>
              <a:defRPr sz="1265"/>
            </a:lvl9pPr>
          </a:lstStyle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560" indent="0">
              <a:buNone/>
              <a:defRPr sz="885"/>
            </a:lvl2pPr>
            <a:lvl3pPr marL="578485" indent="0">
              <a:buNone/>
              <a:defRPr sz="760"/>
            </a:lvl3pPr>
            <a:lvl4pPr marL="868045" indent="0">
              <a:buNone/>
              <a:defRPr sz="630"/>
            </a:lvl4pPr>
            <a:lvl5pPr marL="1157605" indent="0">
              <a:buNone/>
              <a:defRPr sz="630"/>
            </a:lvl5pPr>
            <a:lvl6pPr marL="1447165" indent="0">
              <a:buNone/>
              <a:defRPr sz="630"/>
            </a:lvl6pPr>
            <a:lvl7pPr marL="1736090" indent="0">
              <a:buNone/>
              <a:defRPr sz="630"/>
            </a:lvl7pPr>
            <a:lvl8pPr marL="2025650" indent="0">
              <a:buNone/>
              <a:defRPr sz="630"/>
            </a:lvl8pPr>
            <a:lvl9pPr marL="2315210" indent="0">
              <a:buNone/>
              <a:defRPr sz="630"/>
            </a:lvl9pPr>
          </a:lstStyle>
          <a:p>
            <a:pPr lvl="0"/>
            <a:endParaRPr lang="ru-RU"/>
          </a:p>
        </p:txBody>
      </p:sp>
      <p:sp>
        <p:nvSpPr>
          <p:cNvPr id="8" name="Дата 3"/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</a:fld>
            <a:endParaRPr lang="ru-RU"/>
          </a:p>
        </p:txBody>
      </p:sp>
      <p:sp>
        <p:nvSpPr>
          <p:cNvPr id="9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18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1" name="Текст 6"/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12" name="Текст 9"/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13" name="Текст 6"/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14" name="Текст 9"/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15" name="Текст 6"/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16" name="Текст 9"/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20" name="Текст 6"/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21" name="Текст 9"/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22" name="Текст 6"/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23" name="Текст 9"/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24" name="Текст 6"/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  <a:endParaRPr lang="ru-RU" dirty="0"/>
          </a:p>
        </p:txBody>
      </p:sp>
      <p:sp>
        <p:nvSpPr>
          <p:cNvPr id="25" name="Текст 9"/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  <a:endParaRPr lang="ru-RU" dirty="0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27" name="Текст 6"/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  <a:endParaRPr lang="ru-RU" dirty="0"/>
          </a:p>
        </p:txBody>
      </p:sp>
      <p:sp>
        <p:nvSpPr>
          <p:cNvPr id="28" name="Текст 6"/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  <a:endParaRPr lang="ru-RU" dirty="0"/>
          </a:p>
        </p:txBody>
      </p:sp>
      <p:sp>
        <p:nvSpPr>
          <p:cNvPr id="29" name="Текст 6"/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  <a:endParaRPr lang="ru-RU" dirty="0"/>
          </a:p>
        </p:txBody>
      </p:sp>
      <p:sp>
        <p:nvSpPr>
          <p:cNvPr id="30" name="Текст 6"/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  <a:endParaRPr lang="ru-RU" dirty="0"/>
          </a:p>
        </p:txBody>
      </p:sp>
      <p:sp>
        <p:nvSpPr>
          <p:cNvPr id="31" name="Текст 6"/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  <a:endParaRPr lang="ru-RU" dirty="0"/>
          </a:p>
        </p:txBody>
      </p:sp>
      <p:sp>
        <p:nvSpPr>
          <p:cNvPr id="32" name="Текст 6"/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  <a:endParaRPr lang="ru-RU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27" name="Рисунок 7"/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/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/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/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23" name="Текст 101"/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75" name="Текст 74"/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ru-RU" dirty="0"/>
          </a:p>
        </p:txBody>
      </p:sp>
      <p:sp>
        <p:nvSpPr>
          <p:cNvPr id="76" name="Текст 74"/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ru-RU" dirty="0"/>
          </a:p>
        </p:txBody>
      </p:sp>
      <p:sp>
        <p:nvSpPr>
          <p:cNvPr id="77" name="Текст 74"/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ru-RU" dirty="0"/>
          </a:p>
        </p:txBody>
      </p:sp>
      <p:sp>
        <p:nvSpPr>
          <p:cNvPr id="78" name="Текст 74"/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ru-RU" dirty="0"/>
          </a:p>
        </p:txBody>
      </p:sp>
      <p:sp>
        <p:nvSpPr>
          <p:cNvPr id="79" name="Текст 74"/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ru-RU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8" name="Текст 35"/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9" name="Текст 35"/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2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8" name="Текст 35"/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9" name="Текст 35"/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8" name="Текст 35"/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9" name="Текст 35"/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72" name="Текст 35"/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73" name="Текст 35"/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74" name="Текст 35"/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75" name="Текст 35"/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76" name="Текст 35"/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77" name="Текст 35"/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78" name="Текст 35"/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79" name="Текст 35"/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0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0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130" name="Текст 35"/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  <a:endParaRPr lang="ru-RU" dirty="0"/>
          </a:p>
        </p:txBody>
      </p:sp>
      <p:sp>
        <p:nvSpPr>
          <p:cNvPr id="152" name="Текст 35"/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  <a:endParaRPr lang="ru-RU" dirty="0"/>
          </a:p>
        </p:txBody>
      </p:sp>
      <p:sp>
        <p:nvSpPr>
          <p:cNvPr id="153" name="Текст 35"/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  <a:endParaRPr lang="ru-RU" dirty="0"/>
          </a:p>
        </p:txBody>
      </p:sp>
      <p:sp>
        <p:nvSpPr>
          <p:cNvPr id="189" name="Текст 35"/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  <a:endParaRPr lang="ru-RU" dirty="0"/>
          </a:p>
        </p:txBody>
      </p:sp>
      <p:sp>
        <p:nvSpPr>
          <p:cNvPr id="190" name="Текст 35"/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  <a:endParaRPr lang="ru-RU" dirty="0"/>
          </a:p>
        </p:txBody>
      </p:sp>
      <p:sp>
        <p:nvSpPr>
          <p:cNvPr id="191" name="Текст 35"/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  <a:endParaRPr lang="ru-RU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/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0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5" hasCustomPrompt="1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90" name="Текст 7"/>
          <p:cNvSpPr>
            <a:spLocks noGrp="1"/>
          </p:cNvSpPr>
          <p:nvPr>
            <p:ph type="body" sz="quarter" idx="16" hasCustomPrompt="1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91" name="Текст 7"/>
          <p:cNvSpPr>
            <a:spLocks noGrp="1"/>
          </p:cNvSpPr>
          <p:nvPr>
            <p:ph type="body" sz="quarter" idx="17" hasCustomPrompt="1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0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5" hasCustomPrompt="1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90" name="Текст 7"/>
          <p:cNvSpPr>
            <a:spLocks noGrp="1"/>
          </p:cNvSpPr>
          <p:nvPr>
            <p:ph type="body" sz="quarter" idx="16" hasCustomPrompt="1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79" name="Picture Placeholder 1"/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/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/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/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46" name="Текст 35"/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47" name="Текст 35"/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48" name="Текст 35"/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49" name="Текст 35"/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50" name="Текст 35"/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sp>
        <p:nvSpPr>
          <p:cNvPr id="151" name="Текст 35"/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endParaRPr lang="ru-RU" dirty="0"/>
          </a:p>
        </p:txBody>
      </p:sp>
      <p:sp>
        <p:nvSpPr>
          <p:cNvPr id="152" name="Текст 35"/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endParaRPr lang="ru-RU" dirty="0"/>
          </a:p>
        </p:txBody>
      </p:sp>
      <p:cxnSp>
        <p:nvCxnSpPr>
          <p:cNvPr id="168" name="Google Shape;2799;p94"/>
          <p:cNvCxnSpPr/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/>
          <p:cNvCxnSpPr/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/>
          <p:cNvCxnSpPr/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/>
          <p:cNvCxnSpPr/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Дата 8"/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/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/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/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197" name="Текст 7"/>
          <p:cNvSpPr>
            <a:spLocks noGrp="1"/>
          </p:cNvSpPr>
          <p:nvPr>
            <p:ph type="body" sz="quarter" idx="18" hasCustomPrompt="1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198" name="Текст 7"/>
          <p:cNvSpPr>
            <a:spLocks noGrp="1"/>
          </p:cNvSpPr>
          <p:nvPr>
            <p:ph type="body" sz="quarter" idx="19" hasCustomPrompt="1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199" name="Текст 7"/>
          <p:cNvSpPr>
            <a:spLocks noGrp="1"/>
          </p:cNvSpPr>
          <p:nvPr>
            <p:ph type="body" sz="quarter" idx="20" hasCustomPrompt="1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200" name="Текст 7"/>
          <p:cNvSpPr>
            <a:spLocks noGrp="1"/>
          </p:cNvSpPr>
          <p:nvPr>
            <p:ph type="body" sz="quarter" idx="21" hasCustomPrompt="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</a:p>
          <a:p>
            <a:pPr lvl="1"/>
          </a:p>
          <a:p>
            <a:pPr lvl="2"/>
          </a:p>
          <a:p>
            <a:pPr lvl="3"/>
          </a:p>
          <a:p>
            <a:pPr lvl="4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image" Target="../media/image2.png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  <a:p>
            <a:pPr lvl="1"/>
            <a:r>
              <a:rPr lang="ru-RU" dirty="0"/>
              <a:t>Второй уровень</a:t>
            </a:r>
            <a:endParaRPr lang="ru-RU" dirty="0"/>
          </a:p>
          <a:p>
            <a:pPr lvl="2"/>
            <a:r>
              <a:rPr lang="ru-RU" dirty="0"/>
              <a:t>Третий уровень</a:t>
            </a:r>
            <a:endParaRPr lang="ru-RU" dirty="0"/>
          </a:p>
          <a:p>
            <a:pPr lvl="3"/>
            <a:r>
              <a:rPr lang="ru-RU" dirty="0"/>
              <a:t>Четвертый уровень</a:t>
            </a:r>
            <a:endParaRPr lang="ru-RU" dirty="0"/>
          </a:p>
          <a:p>
            <a:pPr lvl="4"/>
            <a:r>
              <a:rPr lang="ru-RU" dirty="0"/>
              <a:t>Пятый уровень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485" rtl="0" eaLnBrk="1" latinLnBrk="0" hangingPunct="1">
        <a:lnSpc>
          <a:spcPct val="90000"/>
        </a:lnSpc>
        <a:spcBef>
          <a:spcPct val="0"/>
        </a:spcBef>
        <a:buNone/>
        <a:defRPr sz="1995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780" indent="-144780" algn="l" defTabSz="578485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45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340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70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265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995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5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905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385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905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310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6pPr>
      <a:lvl7pPr marL="1880870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7pPr>
      <a:lvl8pPr marL="2170430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8pPr>
      <a:lvl9pPr marL="2459990" indent="-144780" algn="l" defTabSz="578485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1pPr>
      <a:lvl2pPr marL="289560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2pPr>
      <a:lvl3pPr marL="578485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3pPr>
      <a:lvl4pPr marL="868045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4pPr>
      <a:lvl5pPr marL="1157605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65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6pPr>
      <a:lvl7pPr marL="1736090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7pPr>
      <a:lvl8pPr marL="2025650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8pPr>
      <a:lvl9pPr marL="2315210" algn="l" defTabSz="57848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tags" Target="../tags/tag1.xml"/><Relationship Id="rId4" Type="http://schemas.openxmlformats.org/officeDocument/2006/relationships/tags" Target="../tags/tag2.xml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tags" Target="../tags/tag5.xml"/><Relationship Id="rId8" Type="http://schemas.openxmlformats.org/officeDocument/2006/relationships/tags" Target="../tags/tag6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20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605" indent="0"/>
            <a:r>
              <a:rPr lang="ru-RU" sz="2600" b="1">
                <a:solidFill>
                  <a:srgbClr val="FFFFFF"/>
                </a:solidFill>
              </a:rPr>
              <a:t>ФСП Карьера</a:t>
            </a:r>
            <a:endParaRPr lang="ru-RU" sz="2600" b="1">
              <a:solidFill>
                <a:srgbClr val="FFFFFF"/>
              </a:solidFill>
            </a:endParaRPr>
          </a:p>
          <a:p>
            <a:pPr marL="268605" indent="0"/>
            <a:r>
              <a:rPr lang="ru-RU" sz="2600">
                <a:solidFill>
                  <a:srgbClr val="FFFFFF"/>
                </a:solidFill>
              </a:rPr>
              <a:t>команда «</a:t>
            </a:r>
            <a:r>
              <a:rPr lang="en-US" sz="2600">
                <a:solidFill>
                  <a:srgbClr val="FFFFFF"/>
                </a:solidFill>
              </a:rPr>
              <a:t>Shurima’s Team</a:t>
            </a:r>
            <a:r>
              <a:rPr lang="ru-RU" sz="2600">
                <a:solidFill>
                  <a:srgbClr val="FFFFFF"/>
                </a:solidFill>
              </a:rPr>
              <a:t>»</a:t>
            </a:r>
            <a:endParaRPr lang="ru-RU" sz="2600">
              <a:solidFill>
                <a:srgbClr val="FFFFFF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780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  <a:endParaRPr lang="ru-RU" dirty="0"/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30708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_crop_2_d_land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/>
          <p:cNvSpPr txBox="1"/>
          <p:nvPr>
            <p:custDataLst>
              <p:tags r:id="rId3"/>
            </p:custDataLst>
          </p:nvPr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8" name="Текст 8"/>
          <p:cNvSpPr txBox="1"/>
          <p:nvPr>
            <p:custDataLst>
              <p:tags r:id="rId4"/>
            </p:custDataLst>
          </p:nvPr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ru-RU" sz="1100" dirty="0">
                <a:solidFill>
                  <a:srgbClr val="1C1D22"/>
                </a:solidFill>
              </a:rPr>
              <a:t>Грейд подтверждает тест, а не строчка в резюме. Задания каждый раз собираются заново, поэтому ответы бесполезно пересылать друг другу. Работодатель видит, почему человек попал в подборку, а участники ФСП получают заслуженный плюс за свои соревнования.</a:t>
            </a:r>
            <a:endParaRPr lang="ru-RU" sz="1100" dirty="0">
              <a:solidFill>
                <a:srgbClr val="1C1D22"/>
              </a:solidFill>
            </a:endParaRPr>
          </a:p>
        </p:txBody>
      </p:sp>
      <p:sp>
        <p:nvSpPr>
          <p:cNvPr id="14" name="Текст 8"/>
          <p:cNvSpPr txBox="1"/>
          <p:nvPr/>
        </p:nvSpPr>
        <p:spPr>
          <a:xfrm>
            <a:off x="395605" y="4541520"/>
            <a:ext cx="5629910" cy="28016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b="1" dirty="0">
                <a:solidFill>
                  <a:srgbClr val="1C1D22"/>
                </a:solidFill>
              </a:rPr>
              <a:t>Участники: Анатолий Ким</a:t>
            </a:r>
            <a:r>
              <a:rPr lang="ru-RU" sz="1200" b="1" dirty="0">
                <a:solidFill>
                  <a:srgbClr val="1C1D22"/>
                </a:solidFill>
              </a:rPr>
              <a:t>, Харин Иван</a:t>
            </a:r>
            <a:endParaRPr lang="ru-RU" sz="1200" b="1" dirty="0">
              <a:solidFill>
                <a:srgbClr val="1C1D22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b="1" dirty="0">
                <a:solidFill>
                  <a:srgbClr val="1C1D22"/>
                </a:solidFill>
              </a:rPr>
              <a:t>Нас: </a:t>
            </a:r>
            <a:r>
              <a:rPr lang="ru-RU" sz="1200" b="1" dirty="0">
                <a:solidFill>
                  <a:srgbClr val="1C1D22"/>
                </a:solidFill>
              </a:rPr>
              <a:t>2 человека</a:t>
            </a:r>
            <a:endParaRPr lang="ru-RU" sz="1200" b="1" dirty="0">
              <a:solidFill>
                <a:srgbClr val="1C1D22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b="1" dirty="0">
                <a:solidFill>
                  <a:srgbClr val="1C1D22"/>
                </a:solidFill>
              </a:rPr>
              <a:t>Кто мы: студенты 1-го курса (МИЭТа и МичГАУ)</a:t>
            </a:r>
            <a:endParaRPr lang="ru-RU" sz="1200" b="1" dirty="0">
              <a:solidFill>
                <a:srgbClr val="1C1D22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b="1" dirty="0">
                <a:solidFill>
                  <a:srgbClr val="1C1D22"/>
                </a:solidFill>
              </a:rPr>
              <a:t>Город: Москва</a:t>
            </a:r>
            <a:endParaRPr lang="ru-RU" sz="1200" b="1" dirty="0">
              <a:solidFill>
                <a:srgbClr val="1C1D22"/>
              </a:solidFill>
            </a:endParaRPr>
          </a:p>
        </p:txBody>
      </p:sp>
      <p:sp>
        <p:nvSpPr>
          <p:cNvPr id="15" name="Текст 8"/>
          <p:cNvSpPr txBox="1"/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8" name="Заголовок 6"/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b="1">
                <a:solidFill>
                  <a:srgbClr val="310F53"/>
                </a:solidFill>
              </a:rPr>
              <a:t>Коротко о нас</a:t>
            </a:r>
            <a:endParaRPr lang="ru-RU" sz="2400" b="1">
              <a:solidFill>
                <a:srgbClr val="310F53"/>
              </a:solidFill>
            </a:endParaRPr>
          </a:p>
        </p:txBody>
      </p:sp>
      <p:cxnSp>
        <p:nvCxnSpPr>
          <p:cNvPr id="7" name="Прямая соединительная линия 6"/>
          <p:cNvCxnSpPr/>
          <p:nvPr>
            <p:custDataLst>
              <p:tags r:id="rId5"/>
            </p:custDataLst>
          </p:nvPr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>
            <p:custDataLst>
              <p:tags r:id="rId6"/>
            </p:custDataLst>
          </p:nvPr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/>
          <p:cNvSpPr txBox="1"/>
          <p:nvPr>
            <p:custDataLst>
              <p:tags r:id="rId7"/>
            </p:custDataLst>
          </p:nvPr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8"/>
          <p:cNvSpPr txBox="1"/>
          <p:nvPr>
            <p:custDataLst>
              <p:tags r:id="rId8"/>
            </p:custDataLst>
          </p:nvPr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ru-RU" sz="1100" dirty="0">
                <a:solidFill>
                  <a:srgbClr val="1C1D22"/>
                </a:solidFill>
              </a:rPr>
              <a:t>Вместо рассылки резюме кандидат один раз проходит опрос и тест и получает категорию — например, «Backend · Middle». Работодатель описывает, кого ищет, обычными словами, выбирает подходящую категорию и сам пишет конкретному человеку, сразу указывая зарплату.</a:t>
            </a:r>
            <a:endParaRPr lang="ru-RU" sz="1100" dirty="0">
              <a:solidFill>
                <a:srgbClr val="1C1D22"/>
              </a:solidFill>
            </a:endParaRPr>
          </a:p>
        </p:txBody>
      </p:sp>
      <p:sp>
        <p:nvSpPr>
          <p:cNvPr id="10" name="Номер слайда 35"/>
          <p:cNvSpPr txBox="1"/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16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36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/>
          <p:cNvSpPr/>
          <p:nvPr/>
        </p:nvSpPr>
        <p:spPr>
          <a:xfrm>
            <a:off x="6382512" y="1517904"/>
            <a:ext cx="4389120" cy="483717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/>
          <p:cNvSpPr txBox="1"/>
          <p:nvPr/>
        </p:nvSpPr>
        <p:spPr>
          <a:xfrm>
            <a:off x="6611112" y="4498975"/>
            <a:ext cx="3931920" cy="19202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Роль: Аналитик</a:t>
            </a:r>
            <a:endParaRPr lang="ru-RU" sz="1200">
              <a:solidFill>
                <a:srgbClr val="1C1D22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Telegram: </a:t>
            </a:r>
            <a:r>
              <a:rPr lang="en-US" sz="1200" b="1">
                <a:solidFill>
                  <a:srgbClr val="1C1D22"/>
                </a:solidFill>
              </a:rPr>
              <a:t>@sjouky</a:t>
            </a:r>
            <a:endParaRPr lang="ru-RU" sz="1200">
              <a:solidFill>
                <a:srgbClr val="1C1D22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Телефон: +79806766810</a:t>
            </a:r>
            <a:endParaRPr lang="ru-RU" sz="1200">
              <a:solidFill>
                <a:srgbClr val="1C1D22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Учёба / работа: МичГАУ</a:t>
            </a:r>
            <a:r>
              <a:rPr lang="en-US" sz="1200" b="1">
                <a:solidFill>
                  <a:srgbClr val="1C1D22"/>
                </a:solidFill>
              </a:rPr>
              <a:t>/</a:t>
            </a:r>
            <a:r>
              <a:rPr lang="ru-RU" sz="1200" b="1">
                <a:solidFill>
                  <a:srgbClr val="1C1D22"/>
                </a:solidFill>
              </a:rPr>
              <a:t>Фриланс</a:t>
            </a:r>
            <a:endParaRPr lang="ru-RU" sz="1200" b="1">
              <a:solidFill>
                <a:srgbClr val="1C1D22"/>
              </a:solidFill>
            </a:endParaRPr>
          </a:p>
        </p:txBody>
      </p:sp>
      <p:sp>
        <p:nvSpPr>
          <p:cNvPr id="58" name="Текст 8"/>
          <p:cNvSpPr txBox="1"/>
          <p:nvPr/>
        </p:nvSpPr>
        <p:spPr>
          <a:xfrm>
            <a:off x="6656705" y="3870960"/>
            <a:ext cx="3931920" cy="62801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520978"/>
                </a:solidFill>
              </a:rPr>
              <a:t>Харин Иван</a:t>
            </a:r>
            <a:endParaRPr lang="ru-RU" sz="1800" b="1" dirty="0">
              <a:solidFill>
                <a:srgbClr val="520978"/>
              </a:solidFill>
            </a:endParaRP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1446530" y="1519174"/>
            <a:ext cx="4389120" cy="483717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/>
          <p:cNvSpPr>
            <a:spLocks noGrp="1"/>
          </p:cNvSpPr>
          <p:nvPr>
            <p:ph type="pic" sz="quarter" idx="4294967295"/>
          </p:nvPr>
        </p:nvSpPr>
        <p:spPr>
          <a:xfrm>
            <a:off x="2561590" y="1776095"/>
            <a:ext cx="1737360" cy="1600200"/>
          </a:xfrm>
        </p:spPr>
      </p:sp>
      <p:sp>
        <p:nvSpPr>
          <p:cNvPr id="3" name="Рисунок 2"/>
          <p:cNvSpPr>
            <a:spLocks noGrp="1"/>
          </p:cNvSpPr>
          <p:nvPr>
            <p:ph type="pic" sz="quarter" idx="4294967295"/>
          </p:nvPr>
        </p:nvSpPr>
        <p:spPr>
          <a:xfrm>
            <a:off x="7708392" y="1828800"/>
            <a:ext cx="1737360" cy="1600200"/>
          </a:xfrm>
        </p:spPr>
      </p:sp>
      <p:sp>
        <p:nvSpPr>
          <p:cNvPr id="7" name="Заголовок 6"/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Команда</a:t>
            </a:r>
            <a:endParaRPr lang="ru-RU" sz="2000" b="1">
              <a:solidFill>
                <a:srgbClr val="FFFFFF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27"/>
          </p:nvPr>
        </p:nvSpPr>
        <p:spPr>
          <a:xfrm>
            <a:off x="1645920" y="4206240"/>
            <a:ext cx="3931920" cy="1920240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b="1" dirty="0">
              <a:solidFill>
                <a:srgbClr val="1C1D22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1C1D22"/>
                </a:solidFill>
              </a:rPr>
              <a:t>Роль: Разработчик</a:t>
            </a:r>
            <a:endParaRPr lang="ru-RU" sz="1200" dirty="0">
              <a:solidFill>
                <a:srgbClr val="1C1D22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1C1D22"/>
                </a:solidFill>
              </a:rPr>
              <a:t>Telegram: </a:t>
            </a:r>
            <a:r>
              <a:rPr lang="en-US" sz="1200" b="1" dirty="0">
                <a:solidFill>
                  <a:srgbClr val="1C1D22"/>
                </a:solidFill>
              </a:rPr>
              <a:t>@Mi5tRXD</a:t>
            </a:r>
            <a:endParaRPr lang="ru-RU" sz="1200" dirty="0">
              <a:solidFill>
                <a:srgbClr val="1C1D22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1C1D22"/>
                </a:solidFill>
              </a:rPr>
              <a:t>Телефон: </a:t>
            </a:r>
            <a:r>
              <a:rPr lang="en-US" altLang="ru-RU" sz="1200" b="1" dirty="0">
                <a:solidFill>
                  <a:srgbClr val="1C1D22"/>
                </a:solidFill>
              </a:rPr>
              <a:t>+79954322767</a:t>
            </a:r>
            <a:endParaRPr lang="ru-RU" sz="1200" dirty="0">
              <a:solidFill>
                <a:srgbClr val="1C1D22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1C1D22"/>
                </a:solidFill>
              </a:rPr>
              <a:t>Учёба / работа: МИЭТ</a:t>
            </a:r>
            <a:r>
              <a:rPr lang="en-US" altLang="ru-RU" sz="1200" b="1" dirty="0">
                <a:solidFill>
                  <a:srgbClr val="1C1D22"/>
                </a:solidFill>
              </a:rPr>
              <a:t>(</a:t>
            </a:r>
            <a:r>
              <a:rPr lang="ru-RU" altLang="ru-RU" sz="1200" b="1" dirty="0">
                <a:solidFill>
                  <a:srgbClr val="1C1D22"/>
                </a:solidFill>
              </a:rPr>
              <a:t>Прикладная математика)</a:t>
            </a:r>
            <a:r>
              <a:rPr lang="en-US" sz="1200" b="1" dirty="0">
                <a:solidFill>
                  <a:srgbClr val="1C1D22"/>
                </a:solidFill>
              </a:rPr>
              <a:t>/</a:t>
            </a:r>
            <a:r>
              <a:rPr lang="ru-RU" altLang="en-US" sz="1200" b="1" dirty="0">
                <a:solidFill>
                  <a:srgbClr val="1C1D22"/>
                </a:solidFill>
              </a:rPr>
              <a:t>Фриланс</a:t>
            </a:r>
            <a:endParaRPr lang="ru-RU" altLang="en-US" sz="1200" b="1" dirty="0">
              <a:solidFill>
                <a:srgbClr val="1C1D22"/>
              </a:solidFill>
            </a:endParaRPr>
          </a:p>
        </p:txBody>
      </p:sp>
      <p:sp>
        <p:nvSpPr>
          <p:cNvPr id="15" name="Текст 8"/>
          <p:cNvSpPr txBox="1"/>
          <p:nvPr/>
        </p:nvSpPr>
        <p:spPr>
          <a:xfrm>
            <a:off x="1675130" y="3870960"/>
            <a:ext cx="3931920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520978"/>
                </a:solidFill>
              </a:rPr>
              <a:t>Ким Анатолий</a:t>
            </a:r>
            <a:endParaRPr lang="ru-RU" sz="1800" b="1" dirty="0">
              <a:solidFill>
                <a:srgbClr val="520978"/>
              </a:solidFill>
            </a:endParaRPr>
          </a:p>
        </p:txBody>
      </p:sp>
      <p:pic>
        <p:nvPicPr>
          <p:cNvPr id="4" name="图片 3" descr="photo_5321209204527798967_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703070"/>
            <a:ext cx="1470025" cy="193040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3"/>
          <a:stretch>
            <a:fillRect/>
          </a:stretch>
        </p:blipFill>
        <p:spPr>
          <a:xfrm>
            <a:off x="7538720" y="1630045"/>
            <a:ext cx="1971040" cy="2076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/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мы работали</a:t>
            </a:r>
            <a:endParaRPr lang="ru-RU" sz="2000" b="1">
              <a:solidFill>
                <a:srgbClr val="FFFFFF"/>
              </a:solidFill>
            </a:endParaRPr>
          </a:p>
        </p:txBody>
      </p:sp>
      <p:sp>
        <p:nvSpPr>
          <p:cNvPr id="37" name="Текст 8"/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1C1D22"/>
                </a:solidFill>
              </a:rPr>
              <a:t>Мы — студенты первого курса: Анатолий учится в МИЭТ на прикладной математике, Иван — в МичГАУ, оба подрабатываем на фрилансе. Нас двое, поэтому мы сразу договорились, кто что делает, и каждый вечер сводили работу вместе.</a:t>
            </a:r>
            <a:endParaRPr lang="ru-RU" sz="1100" dirty="0">
              <a:solidFill>
                <a:srgbClr val="1C1D22"/>
              </a:solidFill>
            </a:endParaRPr>
          </a:p>
        </p:txBody>
      </p:sp>
      <p:sp>
        <p:nvSpPr>
          <p:cNvPr id="38" name="Текст 8"/>
          <p:cNvSpPr txBox="1"/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40" name="Текст 8"/>
          <p:cNvSpPr txBox="1"/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1C1D22"/>
                </a:solidFill>
              </a:rPr>
              <a:t>Самое сложное — проверить качество без реальных данных. Мы сгенерировали тысячу «кандидатов» с заранее известным уровнем и прогнали их через настоящий код. Второй вызов — утечка ответов: пришлось сделать задания, которые каждый раз собираются заново.</a:t>
            </a:r>
            <a:endParaRPr lang="ru-RU" sz="1100" dirty="0">
              <a:solidFill>
                <a:srgbClr val="1C1D22"/>
              </a:solidFill>
            </a:endParaRPr>
          </a:p>
        </p:txBody>
      </p:sp>
      <p:sp>
        <p:nvSpPr>
          <p:cNvPr id="41" name="Текст 8"/>
          <p:cNvSpPr txBox="1"/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43" name="Текст 8"/>
          <p:cNvSpPr txBox="1"/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100" dirty="0">
                <a:solidFill>
                  <a:srgbClr val="1C1D22"/>
                </a:solidFill>
              </a:rPr>
              <a:t>Нам понравилось, что задача про живую боль. Кандидаты устали откликаться в пустоту, работодатели — разбирать сотни одинаковых резюме. А у ФСП есть то, чего нет у обычных сайтов с вакансиями: подтверждённые результаты соревнований.</a:t>
            </a:r>
            <a:endParaRPr lang="ru-RU" sz="1100" dirty="0">
              <a:solidFill>
                <a:srgbClr val="1C1D22"/>
              </a:solidFill>
            </a:endParaRPr>
          </a:p>
        </p:txBody>
      </p:sp>
      <p:sp>
        <p:nvSpPr>
          <p:cNvPr id="44" name="Текст 8"/>
          <p:cNvSpPr txBox="1"/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  <a:endParaRPr lang="ru-RU" b="1" dirty="0">
              <a:solidFill>
                <a:schemeClr val="accent5"/>
              </a:solidFill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/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/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/>
          <p:cNvSpPr txBox="1"/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1" name="Текст 8"/>
          <p:cNvSpPr txBox="1"/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2" name="Текст 8"/>
          <p:cNvSpPr txBox="1"/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780" indent="-144780" algn="l" defTabSz="578485" rtl="0" eaLnBrk="1" latinLnBrk="0" hangingPunct="1">
              <a:lnSpc>
                <a:spcPct val="90000"/>
              </a:lnSpc>
              <a:spcBef>
                <a:spcPts val="63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34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27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26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9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385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905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31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87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43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990" indent="-144780" algn="l" defTabSz="578485" rtl="0" eaLnBrk="1" latinLnBrk="0" hangingPunct="1">
              <a:lnSpc>
                <a:spcPct val="90000"/>
              </a:lnSpc>
              <a:spcBef>
                <a:spcPts val="315"/>
              </a:spcBef>
              <a:buFont typeface="Arial" panose="020B0604020202020204" pitchFamily="34" charset="0"/>
              <a:buChar char="•"/>
              <a:defRPr sz="11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rgbClr val="1C1D22"/>
                </a:solidFill>
              </a:rPr>
              <a:t>Сайт для кандидата и работодателя, сервер на Python и база PostgreSQL — запускается одной командой Docker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Адаптивный тест: 8 специализаций, 6 ступеней грейда, до 20 минут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Подборка объясняет каждый процент: какие навыки подтверждены и чего не хватает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Простые модели машинного обучения подсказывают специализацию и грейд по резюме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Вход через ФСП ID по тому же протоколу, что у Keycloak, — пока на имитации</a:t>
            </a:r>
            <a:endParaRPr lang="ru-RU" sz="1300" dirty="0">
              <a:solidFill>
                <a:srgbClr val="1C1D22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rgbClr val="1C1D22"/>
                </a:solidFill>
              </a:rPr>
              <a:t>Кандидату бесплатно: один раз пройти тест — дальше пишут работодатели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Работодателю — короткий список людей с проверенными навыками вместо сотен откликов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Для ФСП — способ превратить соревнования участников в карьерный плюс</a:t>
            </a:r>
            <a:endParaRPr lang="ru-RU" sz="1300" dirty="0">
              <a:solidFill>
                <a:srgbClr val="1C1D22"/>
              </a:solidFill>
            </a:endParaRPr>
          </a:p>
          <a:p>
            <a:r>
              <a:rPr lang="ru-RU" sz="1300" dirty="0">
                <a:solidFill>
                  <a:srgbClr val="1C1D22"/>
                </a:solidFill>
              </a:rPr>
              <a:t>Дальше: подключить настоящий ФСП ID, добавить задачи с кодом, запустить пилот с компаниями</a:t>
            </a:r>
            <a:endParaRPr lang="ru-RU" sz="1300" dirty="0">
              <a:solidFill>
                <a:srgbClr val="1C1D22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  <a:endParaRPr lang="ru-RU" dirty="0"/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51892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Кандидат. </a:t>
            </a:r>
            <a:r>
              <a:rPr lang="ru-RU" sz="1400">
                <a:solidFill>
                  <a:srgbClr val="1C1D22"/>
                </a:solidFill>
              </a:rPr>
              <a:t>Отвечает на опрос, сам выбирает грейд и проходит тест до 20 минут. Получает категорию, например «Backend · Middle+». Результаты ФСП подтягиваются сами.</a:t>
            </a:r>
            <a:endParaRPr lang="ru-RU" sz="14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Работодатель. </a:t>
            </a:r>
            <a:r>
              <a:rPr lang="ru-RU" sz="1400">
                <a:solidFill>
                  <a:srgbClr val="1C1D22"/>
                </a:solidFill>
              </a:rPr>
              <a:t>Пишет, кого ищет, обычными словами. Видит подходящие категории, открывает нужную и смотрит людей с объяснением, почему они подходят.</a:t>
            </a:r>
            <a:endParaRPr lang="ru-RU" sz="1400">
              <a:solidFill>
                <a:srgbClr val="1C1D22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Знакомство. </a:t>
            </a:r>
            <a:r>
              <a:rPr lang="ru-RU" sz="1400">
                <a:solidFill>
                  <a:srgbClr val="1C1D22"/>
                </a:solidFill>
              </a:rPr>
              <a:t>Приглашение сразу с зарплатой. Можно переписываться, а контакты открываются, только если кандидат согласился. Дальше оффер и выход на работу.</a:t>
            </a:r>
            <a:endParaRPr lang="ru-RU" sz="1400">
              <a:solidFill>
                <a:srgbClr val="1C1D22"/>
              </a:solidFill>
            </a:endParaRPr>
          </a:p>
        </p:txBody>
      </p:sp>
      <p:cxnSp>
        <p:nvCxnSpPr>
          <p:cNvPr id="58" name="Google Shape;2799;p94"/>
          <p:cNvCxnSpPr/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/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/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/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/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Работодатель приходит сам</a:t>
            </a:r>
            <a:endParaRPr lang="ru-RU" sz="2000" b="1">
              <a:solidFill>
                <a:srgbClr val="FFFFFF"/>
              </a:solidFill>
            </a:endParaRPr>
          </a:p>
        </p:txBody>
      </p:sp>
      <p:cxnSp>
        <p:nvCxnSpPr>
          <p:cNvPr id="14" name="Google Shape;2799;p94"/>
          <p:cNvCxnSpPr/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/>
          <p:cNvSpPr/>
          <p:nvPr/>
        </p:nvSpPr>
        <p:spPr>
          <a:xfrm>
            <a:off x="346075" y="324562"/>
            <a:ext cx="59390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/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Регистрация</a:t>
            </a:r>
            <a:endParaRPr lang="ru-RU" sz="1400" b="1">
              <a:solidFill>
                <a:srgbClr val="FF0053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По почте или через ФСП ID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Опрос и тест</a:t>
            </a:r>
            <a:endParaRPr lang="ru-RU" sz="1400" b="1">
              <a:solidFill>
                <a:srgbClr val="FF0053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Грейд выбирает кандидат, тест подтверждает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Категория</a:t>
            </a:r>
            <a:endParaRPr lang="ru-RU" sz="1400" b="1">
              <a:solidFill>
                <a:srgbClr val="FF0053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Её видят работодатели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Подборка</a:t>
            </a:r>
            <a:endParaRPr lang="ru-RU" sz="1400" b="1">
              <a:solidFill>
                <a:srgbClr val="FF0053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Сначала категории, потом люди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Приглашение</a:t>
            </a:r>
            <a:endParaRPr lang="ru-RU" sz="1400" b="1">
              <a:solidFill>
                <a:srgbClr val="FF0053"/>
              </a:solidFill>
            </a:endParaRPr>
          </a:p>
        </p:txBody>
      </p:sp>
      <p:sp>
        <p:nvSpPr>
          <p:cNvPr id="11" name="Текст 10"/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Зарплата, переписка, контакты</a:t>
            </a:r>
            <a:endParaRPr lang="ru-RU" sz="1200">
              <a:solidFill>
                <a:srgbClr val="1C1D22"/>
              </a:solidFill>
            </a:endParaRPr>
          </a:p>
        </p:txBody>
      </p:sp>
      <p:cxnSp>
        <p:nvCxnSpPr>
          <p:cNvPr id="34" name="Прямая соединительная линия 33"/>
          <p:cNvCxnSpPr/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/>
          <p:cNvCxnSpPr/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/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/>
          <p:cNvCxnSpPr/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/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  <a:endParaRPr lang="ru-RU" sz="2400" b="1" dirty="0"/>
          </a:p>
        </p:txBody>
      </p:sp>
      <p:sp>
        <p:nvSpPr>
          <p:cNvPr id="44" name="Скругленный прямоугольник 43"/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  <a:endParaRPr lang="ru-RU" sz="2400" b="1" dirty="0"/>
          </a:p>
        </p:txBody>
      </p:sp>
      <p:sp>
        <p:nvSpPr>
          <p:cNvPr id="45" name="Скругленный прямоугольник 44"/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  <a:endParaRPr lang="ru-RU" sz="2400" b="1" dirty="0"/>
          </a:p>
        </p:txBody>
      </p:sp>
      <p:sp>
        <p:nvSpPr>
          <p:cNvPr id="53" name="Скругленный прямоугольник 52"/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  <a:endParaRPr lang="ru-RU" sz="2400" b="1" dirty="0"/>
          </a:p>
        </p:txBody>
      </p:sp>
      <p:sp>
        <p:nvSpPr>
          <p:cNvPr id="54" name="Скругленный прямоугольник 53"/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  <a:endParaRPr lang="ru-RU" sz="2400" b="1" dirty="0"/>
          </a:p>
        </p:txBody>
      </p:sp>
      <p:sp>
        <p:nvSpPr>
          <p:cNvPr id="15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Путь от регистрации до оффера</a:t>
            </a:r>
            <a:endParaRPr lang="ru-RU" sz="2000" b="1">
              <a:solidFill>
                <a:srgbClr val="FFFFFF"/>
              </a:solidFill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/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Задания-шаблоны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52 шаблона. Числа, код и порядок ответов каждый раз новые, поэтому слитый ответ одному кандидату не поможет другому.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Подстраивается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Справились — следующий вопрос сложнее, ошиблись — проще. Тест заканчивается, как только уровень ясен: 12–22 вопроса.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Честный грейд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Не прошли — грейд не понижают, можно сразу сдать ступенью ниже. Сдали уверенно — предложим ступень выше. Менять грейд — раз в 90 дней.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Против списывания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Правильный ответ не уходит в браузер. Уходы с вкладки и копирование видны работодателю, но на грейд не влияют.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устроен тест</a:t>
            </a:r>
            <a:endParaRPr lang="ru-RU" sz="2000" b="1">
              <a:solidFill>
                <a:srgbClr val="FFFFFF"/>
              </a:solidFill>
            </a:endParaRPr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6" name="Текст 15"/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8" name="Текст 17"/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04</a:t>
            </a:r>
            <a:endParaRPr lang="ru-RU" sz="2400" b="1">
              <a:solidFill>
                <a:srgbClr val="FF005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/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42519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97.5%</a:t>
            </a:r>
            <a:endParaRPr lang="ru-RU" sz="2200" b="1">
              <a:solidFill>
                <a:srgbClr val="FF0053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кандидатов получают грейд не дальше одной ступени от настоящего (проверили на 1200 синтетических людях)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79.3%</a:t>
            </a:r>
            <a:endParaRPr lang="ru-RU" sz="2200" b="1">
              <a:solidFill>
                <a:srgbClr val="FF0053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точно угадывают уровень Junior, Middle или Senior; при повторной сдаче результат стабилен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15.7% против 100%</a:t>
            </a:r>
            <a:endParaRPr lang="ru-RU" sz="2200" b="1">
              <a:solidFill>
                <a:srgbClr val="FF0053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столько слабых кандидатов проходят на Middle, даже имея ответы 200 других людей. С обычным одинаковым тестом прошли бы все</a:t>
            </a:r>
            <a:endParaRPr lang="ru-RU" sz="1100">
              <a:solidFill>
                <a:srgbClr val="1C1D22"/>
              </a:solidFill>
            </a:endParaRPr>
          </a:p>
        </p:txBody>
      </p:sp>
      <p:graphicFrame>
        <p:nvGraphicFramePr>
          <p:cNvPr id="10" name="Диаграмма 9"/>
          <p:cNvGraphicFramePr/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3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3977639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Насколько тест точен</a:t>
            </a:r>
            <a:endParaRPr lang="ru-RU" sz="2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38770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/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sz="1100" b="1">
                <a:solidFill>
                  <a:srgbClr val="1C1D22"/>
                </a:solidFill>
              </a:rPr>
              <a:t>Сначала категория. </a:t>
            </a:r>
            <a:r>
              <a:rPr lang="ru-RU" sz="1100">
                <a:solidFill>
                  <a:srgbClr val="1C1D22"/>
                </a:solidFill>
              </a:rPr>
              <a:t>В выдачу попадают только по грейду из теста. Сначала своя категория, потом соседние.</a:t>
            </a:r>
            <a:endParaRPr lang="ru-RU" sz="1100">
              <a:solidFill>
                <a:srgbClr val="1C1D22"/>
              </a:solidFill>
            </a:endParaRP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Потом навыки. </a:t>
            </a:r>
            <a:r>
              <a:rPr lang="ru-RU" sz="1100">
                <a:solidFill>
                  <a:srgbClr val="1C1D22"/>
                </a:solidFill>
              </a:rPr>
              <a:t>По каждому навыку из вакансии смотрим, чем он подтверждён: тестом, заданием работодателя, соревнованием ФСП или только резюме. Тест весит больше всего.</a:t>
            </a:r>
            <a:endParaRPr lang="ru-RU" sz="1100">
              <a:solidFill>
                <a:srgbClr val="1C1D22"/>
              </a:solidFill>
            </a:endParaRP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Слабое место не прячется. </a:t>
            </a:r>
            <a:r>
              <a:rPr lang="ru-RU" sz="1100">
                <a:solidFill>
                  <a:srgbClr val="1C1D22"/>
                </a:solidFill>
              </a:rPr>
              <a:t>Если нет обязательного навыка, сильные стороны это не перекроют.</a:t>
            </a:r>
            <a:endParaRPr lang="ru-RU" sz="1100">
              <a:solidFill>
                <a:srgbClr val="1C1D22"/>
              </a:solidFill>
            </a:endParaRP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Всё объясняем. </a:t>
            </a:r>
            <a:r>
              <a:rPr lang="ru-RU" sz="1100">
                <a:solidFill>
                  <a:srgbClr val="1C1D22"/>
                </a:solidFill>
              </a:rPr>
              <a:t>У каждого кандидата процент, разбивка по блокам и честная вероятность «подходит».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Роль. </a:t>
            </a:r>
            <a:r>
              <a:rPr lang="ru-RU" sz="1200">
                <a:solidFill>
                  <a:srgbClr val="1C1D22"/>
                </a:solidFill>
              </a:rPr>
              <a:t>своя категория или соседняя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Стек. </a:t>
            </a:r>
            <a:r>
              <a:rPr lang="ru-RU" sz="1200">
                <a:solidFill>
                  <a:srgbClr val="1C1D22"/>
                </a:solidFill>
              </a:rPr>
              <a:t>закрыты ли обязательные и желательные навыки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Уровень. </a:t>
            </a:r>
            <a:r>
              <a:rPr lang="ru-RU" sz="1200">
                <a:solidFill>
                  <a:srgbClr val="1C1D22"/>
                </a:solidFill>
              </a:rPr>
              <a:t>насколько уверенно сдан тест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Условия. </a:t>
            </a:r>
            <a:r>
              <a:rPr lang="ru-RU" sz="1200">
                <a:solidFill>
                  <a:srgbClr val="1C1D22"/>
                </a:solidFill>
              </a:rPr>
              <a:t>зарплата, формат работы, свежесть профиля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ФСП. </a:t>
            </a:r>
            <a:r>
              <a:rPr lang="ru-RU" sz="1200">
                <a:solidFill>
                  <a:srgbClr val="1C1D22"/>
                </a:solidFill>
              </a:rPr>
              <a:t>призовые места и число стартов, давность, профильность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устроен подбор</a:t>
            </a:r>
            <a:endParaRPr lang="ru-RU" sz="2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537667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FF0053"/>
                </a:solidFill>
              </a:rPr>
              <a:t>8 из 10</a:t>
            </a:r>
            <a:endParaRPr lang="ru-RU" sz="1800" b="1">
              <a:solidFill>
                <a:srgbClr val="FF0053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первых кандидатов в выдаче действительно подходят; у поиска по словам в резюме — 5 из 10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520978"/>
                </a:solidFill>
              </a:rPr>
              <a:t>24% против 60%</a:t>
            </a:r>
            <a:endParaRPr lang="ru-RU" sz="1800" b="1">
              <a:solidFill>
                <a:srgbClr val="520978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доля людей в топ-10 без обязательного навыка: у нас и у поиска по словам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8A83D1"/>
                </a:solidFill>
              </a:rPr>
              <a:t>nDCG 0.58</a:t>
            </a:r>
            <a:endParaRPr lang="ru-RU" sz="1800" b="1">
              <a:solidFill>
                <a:srgbClr val="8A83D1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подходящие стоят выше неподходящих; у поиска по словам — 0.26</a:t>
            </a:r>
            <a:endParaRPr lang="ru-RU" sz="1100">
              <a:solidFill>
                <a:srgbClr val="1C1D22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FC3777"/>
                </a:solidFill>
              </a:rPr>
              <a:t>Честный процент</a:t>
            </a:r>
            <a:endParaRPr lang="ru-RU" sz="1800" b="1">
              <a:solidFill>
                <a:srgbClr val="FC3777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процент «подходит» откалиброван: ошибка обещания — 0.010</a:t>
            </a:r>
            <a:endParaRPr lang="ru-RU" sz="1100">
              <a:solidFill>
                <a:srgbClr val="1C1D22"/>
              </a:solidFill>
            </a:endParaRPr>
          </a:p>
        </p:txBody>
      </p:sp>
      <p:graphicFrame>
        <p:nvGraphicFramePr>
          <p:cNvPr id="12" name="Диаграмма 11"/>
          <p:cNvGraphicFramePr/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Насколько хорошо подбираем</a:t>
            </a:r>
            <a:endParaRPr lang="ru-RU" sz="2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/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ФСП ID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Кандидат входит через ФСП ID — и его результаты подтягиваются сами. Привязать чужой профиль нельзя. Доступа к настоящему ФСП ID на хакатоне нет, поэтому сейчас работает имитация.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Результаты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Места, число стартов, дисциплина и разряд. Они поднимают кандидата внутри его категории, но грейд не меняют. Участие без мест много не даст.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Нет ФСП — не беда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Кандидата без соревнований не штрафуем: его ранжируют по тесту и заданиям. А для ИБ-специалиста CTF значит больше, чем робототехника.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Что даёт участие в ФСП</a:t>
            </a:r>
            <a:endParaRPr lang="ru-RU" sz="2000" b="1">
              <a:solidFill>
                <a:srgbClr val="310F53"/>
              </a:solidFill>
            </a:endParaRPr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6" name="Текст 15"/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  <a:endParaRPr lang="ru-RU" sz="2400" b="1">
              <a:solidFill>
                <a:srgbClr val="FF005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/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/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Метки доверия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Проверенный ИНН и почта на домене компании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Лимит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Новая компания — 15 приглашений в день, проверенная — до 60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Поведение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Видно, отвечает ли компания после принятия и делает ли офферы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Жалобы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Три жалобы за месяц — и приглашения компании на паузе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Подозрительная зарплата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11" name="Текст 10"/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Если вилка сильно выше рынка, кандидат увидит предупреждение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Связь с ATS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13" name="Текст 12"/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Кандидаты и этапы уходят в Huntflow без ручного копирования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Защита от фейков</a:t>
            </a:r>
            <a:endParaRPr lang="ru-RU" sz="2000" b="1">
              <a:solidFill>
                <a:srgbClr val="FFFFFF"/>
              </a:solidFill>
            </a:endParaRPr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6" name="Текст 15"/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8" name="Текст 17"/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04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9" name="Текст 18"/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05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06</a:t>
            </a:r>
            <a:endParaRPr lang="ru-RU" sz="2400" b="1">
              <a:solidFill>
                <a:srgbClr val="FF0053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/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Специализация по резюме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Модель читает резюме и подсказывает направление. На проверочных данных угадывает в 99.8% случаев, но решение всё равно за кандидатом.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Навыки с опечатками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«Постгрес», «Кубернетес», «реакт» — система понимает, о чём речь, и предлагает добавить навык.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Подсказка грейда</a:t>
            </a:r>
            <a:endParaRPr lang="ru-RU" sz="1400" b="1">
              <a:solidFill>
                <a:srgbClr val="520978"/>
              </a:solidFill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По стажу, стеку, результатам ФСП и опросу модель предлагает, на какой грейд пробовать. Решает всё равно тест.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Где помогает машинное обучение</a:t>
            </a:r>
            <a:endParaRPr lang="ru-RU" sz="2000" b="1">
              <a:solidFill>
                <a:srgbClr val="310F53"/>
              </a:solidFill>
            </a:endParaRPr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6" name="Текст 15"/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  <a:endParaRPr lang="ru-RU" sz="2400" b="1">
              <a:solidFill>
                <a:srgbClr val="FF0053"/>
              </a:solidFill>
            </a:endParaRPr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  <a:endParaRPr lang="ru-RU" sz="2400" b="1">
              <a:solidFill>
                <a:srgbClr val="FF0053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/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  <a:endParaRPr lang="id-ID" sz="1000" dirty="0">
                <a:solidFill>
                  <a:schemeClr val="tx1"/>
                </a:solidFill>
                <a:latin typeface="Poppins Light" charset="0"/>
                <a:ea typeface="Poppins Light" charset="0"/>
                <a:cs typeface="Poppins Light" charset="0"/>
              </a:endParaRPr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/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  <a:endParaRPr lang="id-ID" sz="1000" dirty="0">
                <a:solidFill>
                  <a:schemeClr val="tx1"/>
                </a:solidFill>
                <a:latin typeface="Poppins Light" charset="0"/>
                <a:ea typeface="Poppins Light" charset="0"/>
                <a:cs typeface="Poppins Light" charset="0"/>
              </a:endParaRPr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Работодатель сначала видит подходящие категории: сколько людей, лучший процент, кто из ФСП</a:t>
            </a:r>
            <a:endParaRPr lang="ru-RU" sz="1200">
              <a:solidFill>
                <a:srgbClr val="1C1D22"/>
              </a:solidFill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Каждое приглашение идёт по шагам: отправлено → просмотрено → принято → оффер → вышел на работу</a:t>
            </a:r>
            <a:endParaRPr lang="ru-RU" sz="1200">
              <a:solidFill>
                <a:srgbClr val="1C1D22"/>
              </a:solidFill>
            </a:endParaRPr>
          </a:p>
        </p:txBody>
      </p:sp>
      <p:pic>
        <p:nvPicPr>
          <p:cNvPr id="5" name="Рисунок 4" descr="_crop_5_d_need.png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128" b="12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_crop_6_d_inv.png"/>
          <p:cNvPicPr>
            <a:picLocks noGrp="1" noChangeAspect="1"/>
          </p:cNvPicPr>
          <p:nvPr>
            <p:ph type="pic" sz="quarter" idx="18"/>
          </p:nvPr>
        </p:nvPicPr>
        <p:blipFill>
          <a:blip r:embed="rId3"/>
          <a:srcRect t="128" b="12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/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это выглядит</a:t>
            </a:r>
            <a:endParaRPr lang="ru-RU" sz="2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Что под капотом</a:t>
            </a:r>
            <a:endParaRPr lang="ru-RU" sz="2000" b="1">
              <a:solidFill>
                <a:srgbClr val="310F53"/>
              </a:solidFill>
            </a:endParaRP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Устройство. </a:t>
            </a:r>
            <a:r>
              <a:rPr lang="ru-RU" sz="1300">
                <a:solidFill>
                  <a:srgbClr val="1C1D22"/>
                </a:solidFill>
              </a:rPr>
              <a:t>Сайт на React, сервер на FastAPI, база PostgreSQL — три понятные части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Запуск. </a:t>
            </a:r>
            <a:r>
              <a:rPr lang="ru-RU" sz="1300">
                <a:solidFill>
                  <a:srgbClr val="1C1D22"/>
                </a:solidFill>
              </a:rPr>
              <a:t>Одна команда docker compose up; GPU и платные сервисы не нужны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API. </a:t>
            </a:r>
            <a:r>
              <a:rPr lang="ru-RU" sz="1300">
                <a:solidFill>
                  <a:srgbClr val="1C1D22"/>
                </a:solidFill>
              </a:rPr>
              <a:t>Все методы описаны в Swagger, есть приём событий от Huntflow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11" name="Текст 10"/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Данные. </a:t>
            </a:r>
            <a:r>
              <a:rPr lang="ru-RU" sz="1300">
                <a:solidFill>
                  <a:srgbClr val="1C1D22"/>
                </a:solidFill>
              </a:rPr>
              <a:t>Согласия по 152-ФЗ, обезличенные карточки, пароли хранятся в виде хешей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Проверка. </a:t>
            </a:r>
            <a:r>
              <a:rPr lang="ru-RU" sz="1300">
                <a:solidFill>
                  <a:srgbClr val="1C1D22"/>
                </a:solidFill>
              </a:rPr>
              <a:t>26 автотестов и скрипт, который пересчитывает все цифры валидации</a:t>
            </a:r>
            <a:endParaRPr lang="ru-RU" sz="1300">
              <a:solidFill>
                <a:srgbClr val="1C1D2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/>
          <p:cNvCxnSpPr/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/>
          <p:cNvCxnSpPr/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/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lang="ru-RU" sz="2000" b="1">
                <a:solidFill>
                  <a:srgbClr val="1C1D22"/>
                </a:solidFill>
              </a:rPr>
              <a:t>ФСП ID. </a:t>
            </a:r>
            <a:r>
              <a:rPr lang="ru-RU" sz="2000">
                <a:solidFill>
                  <a:srgbClr val="1C1D22"/>
                </a:solidFill>
              </a:rPr>
              <a:t>Подключить настоящий ФСП ID и реестр, когда ФСП откроет доступ</a:t>
            </a:r>
            <a:endParaRPr lang="ru-RU" sz="2000">
              <a:solidFill>
                <a:srgbClr val="1C1D22"/>
              </a:solidFill>
            </a:endParaRPr>
          </a:p>
          <a:p>
            <a:r>
              <a:rPr lang="ru-RU" sz="2000" b="1">
                <a:solidFill>
                  <a:srgbClr val="1C1D22"/>
                </a:solidFill>
              </a:rPr>
              <a:t>Задачи с кодом. </a:t>
            </a:r>
            <a:r>
              <a:rPr lang="ru-RU" sz="2000">
                <a:solidFill>
                  <a:srgbClr val="1C1D22"/>
                </a:solidFill>
              </a:rPr>
              <a:t>Добавить песочницу, где кандидат пишет и запускает код</a:t>
            </a:r>
            <a:endParaRPr lang="ru-RU" sz="2000">
              <a:solidFill>
                <a:srgbClr val="1C1D22"/>
              </a:solidFill>
            </a:endParaRPr>
          </a:p>
          <a:p>
            <a:r>
              <a:rPr lang="ru-RU" sz="2000" b="1">
                <a:solidFill>
                  <a:srgbClr val="1C1D22"/>
                </a:solidFill>
              </a:rPr>
              <a:t>Пилот. </a:t>
            </a:r>
            <a:r>
              <a:rPr lang="ru-RU" sz="2000">
                <a:solidFill>
                  <a:srgbClr val="1C1D22"/>
                </a:solidFill>
              </a:rPr>
              <a:t>Проверить тест и подбор на реальных кандидатах и компаниях</a:t>
            </a:r>
            <a:endParaRPr lang="ru-RU" sz="2000">
              <a:solidFill>
                <a:srgbClr val="1C1D22"/>
              </a:solidFill>
            </a:endParaRPr>
          </a:p>
          <a:p>
            <a:r>
              <a:rPr lang="ru-RU" sz="2000" b="1">
                <a:solidFill>
                  <a:srgbClr val="1C1D22"/>
                </a:solidFill>
              </a:rPr>
              <a:t>Доверие. </a:t>
            </a:r>
            <a:r>
              <a:rPr lang="ru-RU" sz="2000">
                <a:solidFill>
                  <a:srgbClr val="1C1D22"/>
                </a:solidFill>
              </a:rPr>
              <a:t>Сверять компании с ЕГРЮЛ и разбирать жалобы вручную</a:t>
            </a:r>
            <a:endParaRPr lang="ru-RU" sz="2000">
              <a:solidFill>
                <a:srgbClr val="1C1D22"/>
              </a:solidFill>
            </a:endParaRPr>
          </a:p>
          <a:p>
            <a:r>
              <a:rPr lang="ru-RU" sz="2000" b="1">
                <a:solidFill>
                  <a:srgbClr val="1C1D22"/>
                </a:solidFill>
              </a:rPr>
              <a:t>Ссылки. </a:t>
            </a:r>
            <a:r>
              <a:rPr lang="ru-RU" sz="2000">
                <a:solidFill>
                  <a:srgbClr val="1C1D22"/>
                </a:solidFill>
              </a:rPr>
              <a:t>github.com/Mi5tR/FSP_Hackathon </a:t>
            </a:r>
            <a:endParaRPr lang="ru-RU" sz="2000">
              <a:solidFill>
                <a:srgbClr val="1C1D22"/>
              </a:solidFill>
            </a:endParaRPr>
          </a:p>
          <a:p>
            <a:endParaRPr sz="2000"/>
          </a:p>
          <a:p>
            <a:r>
              <a:rPr lang="ru-RU" sz="2000" b="1">
                <a:solidFill>
                  <a:srgbClr val="1C1D22"/>
                </a:solidFill>
              </a:rPr>
              <a:t>Спасибо! </a:t>
            </a:r>
            <a:r>
              <a:rPr lang="ru-RU" sz="2000">
                <a:solidFill>
                  <a:srgbClr val="1C1D22"/>
                </a:solidFill>
              </a:rPr>
              <a:t>Будем рады вопросам.</a:t>
            </a:r>
            <a:endParaRPr lang="ru-RU" sz="2000">
              <a:solidFill>
                <a:srgbClr val="1C1D2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2400" b="1">
                <a:solidFill>
                  <a:srgbClr val="FFFFFF"/>
                </a:solidFill>
              </a:rPr>
              <a:t>Что дальше</a:t>
            </a:r>
            <a:endParaRPr lang="ru-RU" sz="2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ags/tag2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ags/tag3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ags/tag4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ags/tag5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ags/tag6.xml><?xml version="1.0" encoding="utf-8"?>
<p:tagLst xmlns:p="http://schemas.openxmlformats.org/presentationml/2006/main">
  <p:tag name="KSO_WM_DIAGRAM_VIRTUALLY_FRAME" val="{&quot;height&quot;:277.64393700787394,&quot;left&quot;:536.0651181102362,&quot;top&quot;:176.3803937007874,&quot;width&quot;:391.6648818897637}"/>
</p:tagLst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7726</Words>
  <Application>WPS 演示</Application>
  <PresentationFormat>Широкоэкранный</PresentationFormat>
  <Paragraphs>333</Paragraphs>
  <Slides>17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Arial</vt:lpstr>
      <vt:lpstr>SimSun</vt:lpstr>
      <vt:lpstr>Wingdings</vt:lpstr>
      <vt:lpstr>Amatic SC</vt:lpstr>
      <vt:lpstr>Liberation Mono</vt:lpstr>
      <vt:lpstr>Lato Light</vt:lpstr>
      <vt:lpstr>Poppins Light</vt:lpstr>
      <vt:lpstr>Montserrat</vt:lpstr>
      <vt:lpstr>Microsoft YaHei</vt:lpstr>
      <vt:lpstr>Arial Unicode MS</vt:lpstr>
      <vt:lpstr>Calibri</vt:lpstr>
      <vt:lpstr>等线</vt:lpstr>
      <vt:lpstr>Для Академия инноваторов 16_9</vt:lpstr>
      <vt:lpstr>команда «[название команды]»</vt:lpstr>
      <vt:lpstr>Коротко о нас</vt:lpstr>
      <vt:lpstr>Команда</vt:lpstr>
      <vt:lpstr>Как мы работали</vt:lpstr>
      <vt:lpstr>КОРОТКО О РЕШЕНИИ</vt:lpstr>
      <vt:lpstr>Работодатель приходит сам</vt:lpstr>
      <vt:lpstr>Путь от регистрации до оффера</vt:lpstr>
      <vt:lpstr>Как устроен тест</vt:lpstr>
      <vt:lpstr>Насколько тест точен</vt:lpstr>
      <vt:lpstr>Как устроен подбор</vt:lpstr>
      <vt:lpstr>Насколько хорошо подбираем</vt:lpstr>
      <vt:lpstr>Что даёт участие в ФСП</vt:lpstr>
      <vt:lpstr>Защита от фейков</vt:lpstr>
      <vt:lpstr>Где помогает машинное обучение</vt:lpstr>
      <vt:lpstr>Как это выглядит</vt:lpstr>
      <vt:lpstr>Что под капотом</vt:lpstr>
      <vt:lpstr>Что дальше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HONOR</cp:lastModifiedBy>
  <cp:revision>98</cp:revision>
  <dcterms:created xsi:type="dcterms:W3CDTF">2023-05-15T07:36:00Z</dcterms:created>
  <dcterms:modified xsi:type="dcterms:W3CDTF">2026-10-11T16:46:21Z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1B7DE3E8823448DEA5CA39A3194C2ED1_12</vt:lpwstr>
  </property>
  <property fmtid="{D5CDD505-2E9C-101B-9397-08002B2CF9AE}" pid="3" name="KSOProductBuildVer">
    <vt:lpwstr>2052-12.1.0.19302</vt:lpwstr>
  </property>
</Properties>
</file>