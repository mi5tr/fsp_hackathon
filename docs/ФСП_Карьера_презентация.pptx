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371" r:id="rId17"/>
    <p:sldId id="263" r:id="rId22"/>
    <p:sldId id="262" r:id="rId21"/>
    <p:sldId id="266" r:id="rId23"/>
    <p:sldId id="374" r:id="rId18"/>
    <p:sldId id="260" r:id="rId19"/>
    <p:sldId id="376" r:id="rId45"/>
    <p:sldId id="270" r:id="rId28"/>
    <p:sldId id="370" r:id="rId16"/>
    <p:sldId id="372" r:id="rId14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17.xml"/><Relationship Id="rId16" Type="http://schemas.openxmlformats.org/officeDocument/2006/relationships/slide" Target="slides/slide16.xml"/><Relationship Id="rId17" Type="http://schemas.openxmlformats.org/officeDocument/2006/relationships/slide" Target="slides/slide8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1" Type="http://schemas.openxmlformats.org/officeDocument/2006/relationships/slide" Target="slides/slide10.xml"/><Relationship Id="rId22" Type="http://schemas.openxmlformats.org/officeDocument/2006/relationships/slide" Target="slides/slide9.xml"/><Relationship Id="rId23" Type="http://schemas.openxmlformats.org/officeDocument/2006/relationships/slide" Target="slides/slide11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8" Type="http://schemas.openxmlformats.org/officeDocument/2006/relationships/slide" Target="slides/slide1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Точно, %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Совпал с настоящим уровнем</c:v>
                </c:pt>
                <c:pt idx="1">
                  <c:v>Повторная сдача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66.5</c:v>
                </c:pt>
                <c:pt idx="1">
                  <c:v>61.2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±1 ступень, %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Совпал с настоящим уровнем</c:v>
                </c:pt>
                <c:pt idx="1">
                  <c:v>Повторная сдача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97.5</c:v>
                </c:pt>
                <c:pt idx="1">
                  <c:v>96.4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Значение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Поиск по словам, nDCG</c:v>
                </c:pt>
                <c:pt idx="1">
                  <c:v>ФСП Карьера, nDCG</c:v>
                </c:pt>
                <c:pt idx="2">
                  <c:v>Поиск по словам, точность</c:v>
                </c:pt>
                <c:pt idx="3">
                  <c:v>ФСП Карьера, точность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0.26</c:v>
                </c:pt>
                <c:pt idx="1">
                  <c:v>0.58</c:v>
                </c:pt>
                <c:pt idx="2">
                  <c:v>0.46</c:v>
                </c:pt>
                <c:pt idx="3">
                  <c:v>0.82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Нас двое, поэтому каждый закрывал сразу несколько направлений. Впишите имена, роли и контакты.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Расскажите своими словами, как собралась команда. Остальное — про главные трудности.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— команда из двух человек, и за хакатон мы сделали ФСП Карьеру. Идея простая: кандидат один раз честно показывает, что умеет, а дальше работодатели приходят к нему сами — с конкретной позицией и зарплатой.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вдвоём сделали работающий сервис от теста до приглашения. Слева — главная страница прототипа.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 это обычный веб-сервис, без GPU и платных API. Главная ценность — в механике, а не в стеке.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главное отличие от обычных сайтов: инициатива у работодателя, и он видит проверенный уровень, а не самоописание.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демо проходим этот путь целиком: регистрируемся, сдаём тест, переключаемся на работодателя и приглашаем.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генерируем вопросы нейросетью на лету: так нельзя гарантировать одинаковую сложность. Вместо этого — шаблоны с известной сложностью, из которых каждый раз получается новый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Реальных кандидатов у нас нет, поэтому мы создали тысячу синтетических с известным уровнем и проверили, как часто тест угадывает. Шесть ступеней — это строго, поэтому точное попадание ниже, чем ±1.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может сам поменять веса и сделать любое условие жёстким фильтром — и увидит, сколько людей отсеялось.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Сравнивали с тем, как ищут на обычных сайтах: совпадение слов в резюме и заявленный грейд. Разница почти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сделали ровно так, как просили постановщики: ФСП — бонус внутри категории, а не пропуск в 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демо есть компания, на которую пожаловались трое кандидатов: её приглашения уже остановлены.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Модели маленькие и работают без видеокарты. Персональные данные никуда не отправляются.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переходим к живому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/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2600" b="1">
                <a:solidFill>
                  <a:srgbClr val="FFFFFF"/>
                </a:solidFill>
              </a:rPr>
              <a:t>ФСП Карьера</a:t>
            </a:r>
            <a:r>
              <a:rPr lang="ru-RU" sz="2600">
                <a:solidFill>
                  <a:srgbClr val="FFFFFF"/>
                </a:solidFill>
              </a:rPr>
              <a:t/>
            </a:r>
          </a:p>
          <a:p>
            <a:pPr marL="268288" indent="0"/>
            <a:r>
              <a:rPr lang="ru-RU" sz="2600">
                <a:solidFill>
                  <a:srgbClr val="FFFFFF"/>
                </a:solidFill>
              </a:rPr>
              <a:t>команда «[название команды]»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_crop_2_d_land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1C1D22"/>
                </a:solidFill>
              </a:rPr>
              <a:t>Грейд подтверждает тест, а не строчка в резюме. Задания каждый раз собираются заново, поэтому ответы бесполезно пересылать друг другу. Работодатель видит, почему человек попал в подборку, а участники ФСП получают заслуженный плюс за свои соревнования.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rgbClr val="1C1D22"/>
                </a:solidFill>
              </a:rPr>
              <a:t>Капитан: </a:t>
            </a:r>
            <a:r>
              <a:rPr lang="ru-RU" b="1" dirty="0" sz="1200">
                <a:solidFill>
                  <a:srgbClr val="1C1D22"/>
                </a:solidFill>
              </a:rPr>
              <a:t>[Имя Фамилия], [специальность]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rgbClr val="1C1D22"/>
                </a:solidFill>
              </a:rPr>
              <a:t>Нас: </a:t>
            </a:r>
            <a:r>
              <a:rPr lang="ru-RU" b="1" dirty="0" sz="1200">
                <a:solidFill>
                  <a:srgbClr val="1C1D22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rgbClr val="1C1D22"/>
                </a:solidFill>
              </a:rPr>
              <a:t>Кто мы: </a:t>
            </a:r>
            <a:r>
              <a:rPr lang="ru-RU" b="1" dirty="0" sz="1200">
                <a:solidFill>
                  <a:srgbClr val="1C1D22"/>
                </a:solidFill>
              </a:rPr>
              <a:t>[где учимся или работаем]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rgbClr val="1C1D22"/>
                </a:solidFill>
              </a:rPr>
              <a:t>Как собрались: </a:t>
            </a:r>
            <a:r>
              <a:rPr lang="ru-RU" b="1" dirty="0" sz="1200">
                <a:solidFill>
                  <a:srgbClr val="1C1D22"/>
                </a:solidFill>
              </a:rPr>
              <a:t>[пара слов]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rgbClr val="1C1D22"/>
                </a:solidFill>
              </a:rPr>
              <a:t>Город: </a:t>
            </a:r>
            <a:r>
              <a:rPr lang="ru-RU" b="1" dirty="0" sz="1200">
                <a:solidFill>
                  <a:srgbClr val="1C1D22"/>
                </a:solidFill>
              </a:rPr>
              <a:t>[город,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b="1">
                <a:solidFill>
                  <a:srgbClr val="310F53"/>
                </a:solidFill>
              </a:rPr>
              <a:t>Коротко о нас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1C1D22"/>
                </a:solidFill>
              </a:rPr>
              <a:t>Вместо рассылки резюме кандидат один раз проходит опрос и тест и получает категорию — например, «Backend · Middle». Работодатель описывает, кого ищет, обычными словами, выбирает подходящую категорию и сам пишет конкретному человеку, сразу указывая зарплату.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382512" y="1517904"/>
            <a:ext cx="4389120" cy="483717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611112" y="4206240"/>
            <a:ext cx="3931920" cy="19202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Роль: </a:t>
            </a:r>
            <a:r>
              <a:rPr lang="ru-RU" sz="1200">
                <a:solidFill>
                  <a:srgbClr val="1C1D22"/>
                </a:solidFill>
              </a:rPr>
              <a:t>[чем занимался в проекте]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Telegram: </a:t>
            </a:r>
            <a:r>
              <a:rPr lang="ru-RU" sz="1200">
                <a:solidFill>
                  <a:srgbClr val="1C1D22"/>
                </a:solidFill>
              </a:rPr>
              <a:t>[@ник]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Телефон: </a:t>
            </a:r>
            <a:r>
              <a:rPr lang="ru-RU" sz="1200">
                <a:solidFill>
                  <a:srgbClr val="1C1D22"/>
                </a:solidFill>
              </a:rPr>
              <a:t>[+7 …]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b="1">
                <a:solidFill>
                  <a:srgbClr val="1C1D22"/>
                </a:solidFill>
              </a:rPr>
              <a:t>Учёба / работа: </a:t>
            </a:r>
            <a:r>
              <a:rPr lang="ru-RU" sz="1200">
                <a:solidFill>
                  <a:srgbClr val="1C1D22"/>
                </a:solidFill>
              </a:rPr>
              <a:t>[вуз или компания]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611112" y="3611880"/>
            <a:ext cx="3931920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520978"/>
                </a:solidFill>
              </a:rPr>
              <a:t>[Имя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417320" y="1517904"/>
            <a:ext cx="4389120" cy="483717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691640" y="1828800"/>
            <a:ext cx="1737360" cy="1600200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656832" y="1828800"/>
            <a:ext cx="1737360" cy="1600200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45920" y="4206240"/>
            <a:ext cx="3931920" cy="1920240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b="1">
                <a:solidFill>
                  <a:srgbClr val="1C1D22"/>
                </a:solidFill>
              </a:rPr>
              <a:t>Роль: </a:t>
            </a:r>
            <a:r>
              <a:rPr lang="ru-RU" sz="1200" dirty="0">
                <a:solidFill>
                  <a:srgbClr val="1C1D22"/>
                </a:solidFill>
              </a:rPr>
              <a:t>[чем занимался в проекте]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b="1">
                <a:solidFill>
                  <a:srgbClr val="1C1D22"/>
                </a:solidFill>
              </a:rPr>
              <a:t>Telegram: </a:t>
            </a:r>
            <a:r>
              <a:rPr lang="ru-RU" sz="1200" dirty="0">
                <a:solidFill>
                  <a:srgbClr val="1C1D22"/>
                </a:solidFill>
              </a:rPr>
              <a:t>[@ник]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b="1">
                <a:solidFill>
                  <a:srgbClr val="1C1D22"/>
                </a:solidFill>
              </a:rPr>
              <a:t>Телефон: </a:t>
            </a:r>
            <a:r>
              <a:rPr lang="ru-RU" sz="1200" dirty="0">
                <a:solidFill>
                  <a:srgbClr val="1C1D22"/>
                </a:solidFill>
              </a:rPr>
              <a:t>[+7 …]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b="1">
                <a:solidFill>
                  <a:srgbClr val="1C1D22"/>
                </a:solidFill>
              </a:rPr>
              <a:t>Учёба / работа: </a:t>
            </a:r>
            <a:r>
              <a:rPr lang="ru-RU" sz="1200" dirty="0">
                <a:solidFill>
                  <a:srgbClr val="1C1D22"/>
                </a:solidFill>
              </a:rPr>
              <a:t>[вуз или компания]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645920" y="3611880"/>
            <a:ext cx="3931920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520978"/>
                </a:solidFill>
              </a:rPr>
              <a:t>[Имя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[Пара предложений о вас: где познакомились, участвовали ли раньше в хакатонах вместе.] Нас двое, поэтому мы сразу договорились, кто что делает, и каждый вечер сводили работу вместе.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Самое сложное — проверить качество без реальных данных. Мы сгенерировали тысячу «кандидатов» с заранее известным уровнем и прогнали их через настоящий код. Второй вызов — утечка ответов: пришлось сделать задания, которые каждый раз собираются заново.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Нам понравилось, что задача про живую боль. Кандидаты устали откликаться в пустоту, работодатели — разбирать сотни одинаковых резюме. А у ФСП есть то, чего нет у обычных сайтов с вакансиями: подтверждённые результаты соревнований.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rgbClr val="1C1D22"/>
                </a:solidFill>
              </a:rPr>
              <a:t>Сайт для кандидата и работодателя, сервер на Python и база PostgreSQL — запускается одной командой Docker</a:t>
            </a:r>
          </a:p>
          <a:p>
            <a:r>
              <a:rPr lang="ru-RU" sz="1300" dirty="0">
                <a:solidFill>
                  <a:srgbClr val="1C1D22"/>
                </a:solidFill>
              </a:rPr>
              <a:t>Адаптивный тест: 8 специализаций, 6 ступеней грейда, до 20 минут</a:t>
            </a:r>
          </a:p>
          <a:p>
            <a:r>
              <a:rPr lang="ru-RU" sz="1300" dirty="0">
                <a:solidFill>
                  <a:srgbClr val="1C1D22"/>
                </a:solidFill>
              </a:rPr>
              <a:t>Подборка объясняет каждый процент: какие навыки подтверждены и чего не хватает</a:t>
            </a:r>
          </a:p>
          <a:p>
            <a:r>
              <a:rPr lang="ru-RU" sz="1300" dirty="0">
                <a:solidFill>
                  <a:srgbClr val="1C1D22"/>
                </a:solidFill>
              </a:rPr>
              <a:t>Простые модели машинного обучения подсказывают специализацию и грейд по резюме</a:t>
            </a:r>
          </a:p>
          <a:p>
            <a:r>
              <a:rPr lang="ru-RU" sz="1300" dirty="0">
                <a:solidFill>
                  <a:srgbClr val="1C1D22"/>
                </a:solidFill>
              </a:rPr>
              <a:t>Вход через ФСП ID по тому же протоколу, что у Keycloak, — пока на имитации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rgbClr val="1C1D22"/>
                </a:solidFill>
              </a:rPr>
              <a:t>Кандидату бесплатно: один раз пройти тест — дальше пишут работодатели</a:t>
            </a:r>
          </a:p>
          <a:p>
            <a:r>
              <a:rPr lang="ru-RU" sz="1300" dirty="0">
                <a:solidFill>
                  <a:srgbClr val="1C1D22"/>
                </a:solidFill>
              </a:rPr>
              <a:t>Работодателю — короткий список людей с проверенными навыками вместо сотен откликов</a:t>
            </a:r>
          </a:p>
          <a:p>
            <a:r>
              <a:rPr lang="ru-RU" sz="1300" dirty="0">
                <a:solidFill>
                  <a:srgbClr val="1C1D22"/>
                </a:solidFill>
              </a:rPr>
              <a:t>Для ФСП — способ превратить соревнования участников в карьерный плюс</a:t>
            </a:r>
          </a:p>
          <a:p>
            <a:r>
              <a:rPr lang="ru-RU" sz="1300" dirty="0">
                <a:solidFill>
                  <a:srgbClr val="1C1D22"/>
                </a:solidFill>
              </a:rPr>
              <a:t>Дальше: подключить настоящий ФСП ID, добавить задачи с кодом, запустить пилот с компаниями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1892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Кандидат. </a:t>
            </a:r>
            <a:r>
              <a:rPr lang="ru-RU" sz="1400">
                <a:solidFill>
                  <a:srgbClr val="1C1D22"/>
                </a:solidFill>
              </a:rPr>
              <a:t>Отвечает на опрос, сам выбирает грейд и проходит тест до 20 минут. Получает категорию, например «Backend · Middle+». Результаты ФСП подтягиваются сами.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Работодатель. </a:t>
            </a:r>
            <a:r>
              <a:rPr lang="ru-RU" sz="1400">
                <a:solidFill>
                  <a:srgbClr val="1C1D22"/>
                </a:solidFill>
              </a:rPr>
              <a:t>Пишет, кого ищет, обычными словами. Видит подходящие категории, открывает нужную и смотрит людей с объяснением, почему они подходят.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Знакомство. </a:t>
            </a:r>
            <a:r>
              <a:rPr lang="ru-RU" sz="1400">
                <a:solidFill>
                  <a:srgbClr val="1C1D22"/>
                </a:solidFill>
              </a:rPr>
              <a:t>Приглашение сразу с зарплатой. Можно переписываться, а контакты открываются, только если кандидат согласился. Дальше оффер и выход на работу.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Работодатель приходит сам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93902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Регистрация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По почте или через ФСП ID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Опрос и тест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Грейд выбирает кандидат, тест подтверждает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Категория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Её видят работодатели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Подборка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Сначала категории, потом люди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b="1">
                <a:solidFill>
                  <a:srgbClr val="FF0053"/>
                </a:solidFill>
              </a:rPr>
              <a:t>Приглашение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Зарплата, переписка, контакты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Путь от регистрации до оффера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0215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Задания-шаблоны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52 шаблона. Числа, код и порядок ответов каждый раз новые, поэтому слитый ответ одному кандидату не поможет другому.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Подстраивается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Справились — следующий вопрос сложнее, ошиблись — проще. Тест заканчивается, как только уровень ясен: 12–22 вопроса.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Честный грейд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Не прошли — грейд не понижают, можно сразу сдать ступенью ниже. Сдали уверенно — предложим ступень выше. Менять грейд — раз в 90 дней.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Против списывания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Правильный ответ не уходит в браузер. Уходы с вкладки и копирование видны работодателю, но на грейд не влияют.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устроен тест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2519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2200" b="1">
                <a:solidFill>
                  <a:srgbClr val="FF0053"/>
                </a:solidFill>
              </a:rPr>
              <a:t>97.5%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кандидатов получают грейд не дальше одной ступени от настоящего (проверили на 1200 синтетических людях)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2200" b="1">
                <a:solidFill>
                  <a:srgbClr val="FF0053"/>
                </a:solidFill>
              </a:rPr>
              <a:t>79.3%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точно угадывают уровень Junior, Middle или Senior; при повторной сдаче результат стабилен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2200" b="1">
                <a:solidFill>
                  <a:srgbClr val="FF0053"/>
                </a:solidFill>
              </a:rPr>
              <a:t>15.7% против 100%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столько слабых кандидатов проходят на Middle, даже имея ответы 200 других людей. С обычным одинаковым тестом прошли бы все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977639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Насколько тест точен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70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ru-RU" sz="1100" b="1">
                <a:solidFill>
                  <a:srgbClr val="1C1D22"/>
                </a:solidFill>
              </a:rPr>
              <a:t>Сначала категория. </a:t>
            </a:r>
            <a:r>
              <a:rPr lang="ru-RU" sz="1100">
                <a:solidFill>
                  <a:srgbClr val="1C1D22"/>
                </a:solidFill>
              </a:rPr>
              <a:t>В выдачу попадают только по грейду из теста. Сначала своя категория, потом соседние.</a:t>
            </a:r>
          </a:p>
          <a:p>
            <a:pPr algn="l"/>
            <a:r>
              <a:rPr lang="ru-RU" sz="1100" b="1">
                <a:solidFill>
                  <a:srgbClr val="1C1D22"/>
                </a:solidFill>
              </a:rPr>
              <a:t>Потом навыки. </a:t>
            </a:r>
            <a:r>
              <a:rPr lang="ru-RU" sz="1100">
                <a:solidFill>
                  <a:srgbClr val="1C1D22"/>
                </a:solidFill>
              </a:rPr>
              <a:t>По каждому навыку из вакансии смотрим, чем он подтверждён: тестом, заданием работодателя, соревнованием ФСП или только резюме. Тест весит больше всего.</a:t>
            </a:r>
          </a:p>
          <a:p>
            <a:pPr algn="l"/>
            <a:r>
              <a:rPr lang="ru-RU" sz="1100" b="1">
                <a:solidFill>
                  <a:srgbClr val="1C1D22"/>
                </a:solidFill>
              </a:rPr>
              <a:t>Слабое место не прячется. </a:t>
            </a:r>
            <a:r>
              <a:rPr lang="ru-RU" sz="1100">
                <a:solidFill>
                  <a:srgbClr val="1C1D22"/>
                </a:solidFill>
              </a:rPr>
              <a:t>Если нет обязательного навыка, сильные стороны это не перекроют.</a:t>
            </a:r>
          </a:p>
          <a:p>
            <a:pPr algn="l"/>
            <a:r>
              <a:rPr lang="ru-RU" sz="1100" b="1">
                <a:solidFill>
                  <a:srgbClr val="1C1D22"/>
                </a:solidFill>
              </a:rPr>
              <a:t>Всё объясняем. </a:t>
            </a:r>
            <a:r>
              <a:rPr lang="ru-RU" sz="1100">
                <a:solidFill>
                  <a:srgbClr val="1C1D22"/>
                </a:solidFill>
              </a:rPr>
              <a:t>У каждого кандидата процент, разбивка по блокам и честная вероятность «подходит».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Роль. </a:t>
            </a:r>
            <a:r>
              <a:rPr lang="ru-RU" sz="1200">
                <a:solidFill>
                  <a:srgbClr val="1C1D22"/>
                </a:solidFill>
              </a:rPr>
              <a:t>своя категория или соседняя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Стек. </a:t>
            </a:r>
            <a:r>
              <a:rPr lang="ru-RU" sz="1200">
                <a:solidFill>
                  <a:srgbClr val="1C1D22"/>
                </a:solidFill>
              </a:rPr>
              <a:t>закрыты ли обязательные и желательные навыки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Уровень. </a:t>
            </a:r>
            <a:r>
              <a:rPr lang="ru-RU" sz="1200">
                <a:solidFill>
                  <a:srgbClr val="1C1D22"/>
                </a:solidFill>
              </a:rPr>
              <a:t>насколько уверенно сдан тест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Условия. </a:t>
            </a:r>
            <a:r>
              <a:rPr lang="ru-RU" sz="1200">
                <a:solidFill>
                  <a:srgbClr val="1C1D22"/>
                </a:solidFill>
              </a:rPr>
              <a:t>зарплата, формат работы, свежесть профиля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sz="1200" b="1">
                <a:solidFill>
                  <a:srgbClr val="1C1D22"/>
                </a:solidFill>
              </a:rPr>
              <a:t>ФСП. </a:t>
            </a:r>
            <a:r>
              <a:rPr lang="ru-RU" sz="1200">
                <a:solidFill>
                  <a:srgbClr val="1C1D22"/>
                </a:solidFill>
              </a:rPr>
              <a:t>призовые места и число стартов, давность, профильность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устроен подбор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37667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FF0053"/>
                </a:solidFill>
              </a:rPr>
              <a:t>8 из 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первых кандидатов в выдаче действительно подходят; у поиска по словам в резюме — 5 из 10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520978"/>
                </a:solidFill>
              </a:rPr>
              <a:t>24% против 60%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доля людей в топ-10 без обязательного навыка: у нас и у поиска по словам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8A83D1"/>
                </a:solidFill>
              </a:rPr>
              <a:t>nDCG 0.58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подходящие стоят выше неподходящих; у поиска по словам — 0.26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800" b="1">
                <a:solidFill>
                  <a:srgbClr val="FC3777"/>
                </a:solidFill>
              </a:rPr>
              <a:t>Честный процент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r>
              <a:rPr lang="ru-RU" sz="1100">
                <a:solidFill>
                  <a:srgbClr val="1C1D22"/>
                </a:solidFill>
              </a:rPr>
              <a:t>процент «подходит» откалиброван: ошибка обещания — 0.010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Насколько хорошо подбираем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ФСП ID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Кандидат входит через ФСП ID — и его результаты подтягиваются сами. Привязать чужой профиль нельзя. Доступа к настоящему ФСП ID на хакатоне нет, поэтому сейчас работает имитация.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Результаты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Места, число стартов, дисциплина и разряд. Они поднимают кандидата внутри его категории, но грейд не меняют. Участие без мест много не даст.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Нет ФСП — не беда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Кандидата без соревнований не штрафуем: его ранжируют по тесту и заданиям. А для ИБ-специалиста CTF значит больше, чем робототехника.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 sz="2000" b="1">
                <a:solidFill>
                  <a:srgbClr val="310F53"/>
                </a:solidFill>
              </a:rPr>
              <a:t>Что даёт участие в ФСП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50215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Метки доверия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Проверенный ИНН и почта на домене компании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Лимит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Новая компания — 15 приглашений в день, проверенная — до 60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Поведение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Видно, отвечает ли компания после принятия и делает ли офферы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Жалобы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Три жалобы за месяц — и приглашения компании на паузе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Подозрительная зарплата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Если вилка сильно выше рынка, кандидат увидит предупреждение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Связь с ATS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Кандидаты и этапы уходят в Huntflow без ручного копирования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Защита от фейков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Специализация по резюме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Модель читает резюме и подсказывает направление. На проверочных данных угадывает в 99.8% случаев, но решение всё равно за кандидатом.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Навыки с опечатками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«Постгрес», «Кубернетес», «реакт» — система понимает, о чём речь, и предлагает добавить навык.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400" b="1">
                <a:solidFill>
                  <a:srgbClr val="520978"/>
                </a:solidFill>
              </a:rPr>
              <a:t>Подсказка грейда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lang="ru-RU" sz="1300">
                <a:solidFill>
                  <a:srgbClr val="1C1D22"/>
                </a:solidFill>
              </a:rPr>
              <a:t>По стажу, стеку, результатам ФСП и опросу модель предлагает, на какой грейд пробовать. Решает всё равно тест.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 sz="2000" b="1">
                <a:solidFill>
                  <a:srgbClr val="310F53"/>
                </a:solidFill>
              </a:rPr>
              <a:t>Где помогает машинное обучение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24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5021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Работодатель сначала видит подходящие категории: сколько людей, лучший процент, кто из ФСП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ru-RU" sz="1200">
                <a:solidFill>
                  <a:srgbClr val="1C1D22"/>
                </a:solidFill>
              </a:rPr>
              <a:t>Каждое приглашение идёт по шагам: отправлено → просмотрено → принято → оффер → вышел на работу</a:t>
            </a:r>
          </a:p>
        </p:txBody>
      </p:sp>
      <p:pic>
        <p:nvPicPr>
          <p:cNvPr id="5" name="Рисунок 4" descr="_crop_5_d_need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28" b="12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_crop_6_d_inv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128" b="12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b="1">
                <a:solidFill>
                  <a:srgbClr val="FFFFFF"/>
                </a:solidFill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 b="1">
                <a:solidFill>
                  <a:srgbClr val="310F53"/>
                </a:solidFill>
              </a:rPr>
              <a:t>Что под капотом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Устройство. </a:t>
            </a:r>
            <a:r>
              <a:rPr lang="ru-RU" sz="1300">
                <a:solidFill>
                  <a:srgbClr val="1C1D22"/>
                </a:solidFill>
              </a:rPr>
              <a:t>Сайт на React, сервер на FastAPI, база PostgreSQL — три понятные части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Запуск. </a:t>
            </a:r>
            <a:r>
              <a:rPr lang="ru-RU" sz="1300">
                <a:solidFill>
                  <a:srgbClr val="1C1D22"/>
                </a:solidFill>
              </a:rPr>
              <a:t>Одна команда docker compose up; GPU и платные сервисы не нужны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API. </a:t>
            </a:r>
            <a:r>
              <a:rPr lang="ru-RU" sz="1300">
                <a:solidFill>
                  <a:srgbClr val="1C1D22"/>
                </a:solidFill>
              </a:rPr>
              <a:t>Все методы описаны в Swagger, есть приём событий от Huntflow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Данные. </a:t>
            </a:r>
            <a:r>
              <a:rPr lang="ru-RU" sz="1300">
                <a:solidFill>
                  <a:srgbClr val="1C1D22"/>
                </a:solidFill>
              </a:rPr>
              <a:t>Согласия по 152-ФЗ, обезличенные карточки, пароли хранятся в виде хешей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sz="1300" b="1">
                <a:solidFill>
                  <a:srgbClr val="1C1D22"/>
                </a:solidFill>
              </a:rPr>
              <a:t>Проверка. </a:t>
            </a:r>
            <a:r>
              <a:rPr lang="ru-RU" sz="1300">
                <a:solidFill>
                  <a:srgbClr val="1C1D22"/>
                </a:solidFill>
              </a:rPr>
              <a:t>26 автотестов и скрипт, который пересчитывает все цифры валидации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lang="ru-RU" sz="2000" b="1">
                <a:solidFill>
                  <a:srgbClr val="1C1D22"/>
                </a:solidFill>
              </a:rPr>
              <a:t>ФСП ID. </a:t>
            </a:r>
            <a:r>
              <a:rPr lang="ru-RU" sz="2000">
                <a:solidFill>
                  <a:srgbClr val="1C1D22"/>
                </a:solidFill>
              </a:rPr>
              <a:t>Подключить настоящий ФСП ID и реестр, когда ФСП откроет доступ</a:t>
            </a:r>
          </a:p>
          <a:p>
            <a:r>
              <a:rPr lang="ru-RU" sz="2000" b="1">
                <a:solidFill>
                  <a:srgbClr val="1C1D22"/>
                </a:solidFill>
              </a:rPr>
              <a:t>Задачи с кодом. </a:t>
            </a:r>
            <a:r>
              <a:rPr lang="ru-RU" sz="2000">
                <a:solidFill>
                  <a:srgbClr val="1C1D22"/>
                </a:solidFill>
              </a:rPr>
              <a:t>Добавить песочницу, где кандидат пишет и запускает код</a:t>
            </a:r>
          </a:p>
          <a:p>
            <a:r>
              <a:rPr lang="ru-RU" sz="2000" b="1">
                <a:solidFill>
                  <a:srgbClr val="1C1D22"/>
                </a:solidFill>
              </a:rPr>
              <a:t>Пилот. </a:t>
            </a:r>
            <a:r>
              <a:rPr lang="ru-RU" sz="2000">
                <a:solidFill>
                  <a:srgbClr val="1C1D22"/>
                </a:solidFill>
              </a:rPr>
              <a:t>Проверить тест и подбор на реальных кандидатах и компаниях</a:t>
            </a:r>
          </a:p>
          <a:p>
            <a:r>
              <a:rPr lang="ru-RU" sz="2000" b="1">
                <a:solidFill>
                  <a:srgbClr val="1C1D22"/>
                </a:solidFill>
              </a:rPr>
              <a:t>Доверие. </a:t>
            </a:r>
            <a:r>
              <a:rPr lang="ru-RU" sz="2000">
                <a:solidFill>
                  <a:srgbClr val="1C1D22"/>
                </a:solidFill>
              </a:rPr>
              <a:t>Сверять компании с ЕГРЮЛ и разбирать жалобы вручную</a:t>
            </a:r>
          </a:p>
          <a:p>
            <a:r>
              <a:rPr lang="ru-RU" sz="2000" b="1">
                <a:solidFill>
                  <a:srgbClr val="1C1D22"/>
                </a:solidFill>
              </a:rPr>
              <a:t>Ссылки. </a:t>
            </a:r>
            <a:r>
              <a:rPr lang="ru-RU" sz="2000">
                <a:solidFill>
                  <a:srgbClr val="1C1D22"/>
                </a:solidFill>
              </a:rPr>
              <a:t>github.com/Mi5tR/FSP_Hackathon · стенд: [ссылка]</a:t>
            </a:r>
          </a:p>
          <a:p>
            <a:r>
              <a:rPr lang="ru-RU" sz="2000">
                <a:solidFill>
                  <a:srgbClr val="1C1D22"/>
                </a:solidFill>
              </a:rPr>
              <a:t/>
            </a:r>
          </a:p>
          <a:p>
            <a:r>
              <a:rPr lang="ru-RU" sz="2000" b="1">
                <a:solidFill>
                  <a:srgbClr val="1C1D22"/>
                </a:solidFill>
              </a:rPr>
              <a:t>Спасибо! </a:t>
            </a:r>
            <a:r>
              <a:rPr lang="ru-RU" sz="2000">
                <a:solidFill>
                  <a:srgbClr val="1C1D22"/>
                </a:solidFill>
              </a:rPr>
              <a:t>Будем рады вопросам.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2400" b="1">
                <a:solidFill>
                  <a:srgbClr val="FFFFFF"/>
                </a:solidFill>
              </a:rP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