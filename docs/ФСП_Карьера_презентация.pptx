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1"/>
  </p:handoutMasterIdLst>
  <p:sldIdLst>
    <p:sldId id="365" r:id="rId3"/>
    <p:sldId id="366" r:id="rId5"/>
    <p:sldId id="362" r:id="rId6"/>
    <p:sldId id="364" r:id="rId7"/>
    <p:sldId id="375" r:id="rId8"/>
    <p:sldId id="268" r:id="rId9"/>
    <p:sldId id="267" r:id="rId10"/>
    <p:sldId id="371" r:id="rId11"/>
    <p:sldId id="263" r:id="rId12"/>
    <p:sldId id="262" r:id="rId13"/>
    <p:sldId id="266" r:id="rId14"/>
    <p:sldId id="374" r:id="rId15"/>
    <p:sldId id="260" r:id="rId16"/>
    <p:sldId id="376" r:id="rId17"/>
    <p:sldId id="270" r:id="rId18"/>
    <p:sldId id="370" r:id="rId19"/>
    <p:sldId id="372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1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3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/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268"/>
            <p14:sldId id="267"/>
            <p14:sldId id="371"/>
            <p14:sldId id="263"/>
            <p14:sldId id="262"/>
            <p14:sldId id="266"/>
            <p14:sldId id="374"/>
            <p14:sldId id="260"/>
            <p14:sldId id="376"/>
            <p14:sldId id="270"/>
            <p14:sldId id="370"/>
            <p14:sldId id="372"/>
          </p14:sldIdLst>
        </p14:section>
        <p14:section name="Материалы" id="{0F84D0DE-CEB1-417E-B269-8B3EB04B5FA6}">
          <p14:sldIdLst/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63" autoAdjust="0"/>
    <p:restoredTop sz="95857"/>
  </p:normalViewPr>
  <p:slideViewPr>
    <p:cSldViewPr snapToGrid="0" showGuides="1">
      <p:cViewPr varScale="1">
        <p:scale>
          <a:sx n="91" d="100"/>
          <a:sy n="91" d="100"/>
        </p:scale>
        <p:origin x="200" y="632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handoutMaster" Target="handoutMasters/handout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Relationship Id="rId2" Type="http://schemas.microsoft.com/office/2011/relationships/chartStyle" Target="style1.xml"/><Relationship Id="rId3" Type="http://schemas.microsoft.com/office/2011/relationships/chartColorStyle" Target="colors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.xlsx"/><Relationship Id="rId2" Type="http://schemas.microsoft.com/office/2011/relationships/chartStyle" Target="style2.xml"/><Relationship Id="rId3" Type="http://schemas.microsoft.com/office/2011/relationships/chartColorStyle" Target="colors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516883002416824"/>
          <c:y val="0.126935253903676"/>
          <c:w val="0.926086023390575"/>
          <c:h val="0.66747142271661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Точно, %</c:v>
                </c:pt>
              </c:strCache>
            </c:strRef>
          </c:tx>
          <c:spPr>
            <a:solidFill>
              <a:schemeClr val="accent1"/>
            </a:solidFill>
            <a:ln w="63500"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Sheet1!$A$2:$A$3</c:f>
              <c:strCache>
                <c:ptCount val="2"/>
                <c:pt idx="0">
                  <c:v>Совпал с настоящим уровнем</c:v>
                </c:pt>
                <c:pt idx="1">
                  <c:v>Повторная сдача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66.5</c:v>
                </c:pt>
                <c:pt idx="1">
                  <c:v>61.2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±1 ступень, %</c:v>
                </c:pt>
              </c:strCache>
            </c:strRef>
          </c:tx>
          <c:spPr>
            <a:solidFill>
              <a:schemeClr val="accent2"/>
            </a:solidFill>
            <a:ln w="63500"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Sheet1!$A$2:$A$3</c:f>
              <c:strCache>
                <c:ptCount val="2"/>
                <c:pt idx="0">
                  <c:v>Совпал с настоящим уровнем</c:v>
                </c:pt>
                <c:pt idx="1">
                  <c:v>Повторная сдача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97.5</c:v>
                </c:pt>
                <c:pt idx="1">
                  <c:v>96.4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0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  <c:max val="100"/>
        </c:scaling>
        <c:delete val="0"/>
        <c:axPos val="l"/>
        <c:majorGridlines>
          <c:spPr>
            <a:ln w="9525" cap="flat" cmpd="sng" algn="ctr">
              <a:solidFill>
                <a:schemeClr val="bg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</a:p>
        </c:txPr>
        <c:crossAx val="1688540351"/>
        <c:crosses val="autoZero"/>
        <c:crossBetween val="between"/>
        <c:majorUnit val="20"/>
      </c:valAx>
      <c:spPr>
        <a:noFill/>
        <a:ln w="25400">
          <a:noFill/>
        </a:ln>
        <a:effectLst/>
      </c:spPr>
    </c:plotArea>
    <c:legend>
      <c:legendPos val="b"/>
      <c:layout>
        <c:manualLayout>
          <c:xMode val="edge"/>
          <c:yMode val="edge"/>
          <c:x val="0.030340673321854"/>
          <c:y val="0.938200742857347"/>
          <c:w val="0.947400558394266"/>
          <c:h val="0.06179925714265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9330ec6-ee2b-41b3-9171-bcf5c045fc9d}"/>
      </c:ext>
    </c:extLst>
  </c:chart>
  <c:spPr>
    <a:noFill/>
    <a:ln>
      <a:noFill/>
    </a:ln>
    <a:effectLst/>
  </c:spPr>
  <c:txPr>
    <a:bodyPr/>
    <a:lstStyle/>
    <a:p>
      <a:pPr>
        <a:defRPr lang="zh-CN">
          <a:solidFill>
            <a:schemeClr val="bg1"/>
          </a:solidFill>
        </a:defRPr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53261129493"/>
          <c:y val="0.126935253903676"/>
          <c:w val="0.864241707500533"/>
          <c:h val="0.667471422716612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Значение</c:v>
                </c:pt>
              </c:strCache>
            </c:strRef>
          </c:tx>
          <c:spPr>
            <a:solidFill>
              <a:schemeClr val="accent2"/>
            </a:solidFill>
            <a:ln w="63500">
              <a:solidFill>
                <a:schemeClr val="accent2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 w="63500"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 w="63500"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 w="63500"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 w="63500">
                <a:noFill/>
              </a:ln>
              <a:effectLst/>
            </c:spPr>
          </c:dPt>
          <c:dLbls>
            <c:delete val="1"/>
          </c:dLbls>
          <c:cat>
            <c:strRef>
              <c:f>Sheet1!$A$2:$A$5</c:f>
              <c:strCache>
                <c:ptCount val="4"/>
                <c:pt idx="0">
                  <c:v>Поиск по словам, nDCG</c:v>
                </c:pt>
                <c:pt idx="1">
                  <c:v>ФСП Карьера, nDCG</c:v>
                </c:pt>
                <c:pt idx="2">
                  <c:v>Поиск по словам, точность</c:v>
                </c:pt>
                <c:pt idx="3">
                  <c:v>ФСП Карьера, точность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0.26</c:v>
                </c:pt>
                <c:pt idx="1">
                  <c:v>0.58</c:v>
                </c:pt>
                <c:pt idx="2">
                  <c:v>0.46</c:v>
                </c:pt>
                <c:pt idx="3">
                  <c:v>0.82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1688540351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ea46ba44-309d-49d1-a28b-c1f8fac7a8a0}"/>
      </c:ext>
    </c:extLst>
  </c:chart>
  <c:spPr>
    <a:noFill/>
    <a:ln>
      <a:noFill/>
    </a:ln>
    <a:effectLst/>
  </c:spPr>
  <c:txPr>
    <a:bodyPr/>
    <a:lstStyle/>
    <a:p>
      <a:pPr>
        <a:defRPr lang="zh-CN">
          <a:solidFill>
            <a:schemeClr val="tx1"/>
          </a:solidFill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Здравствуйте! Мы — команда из двух человек, и за хакатон мы сделали ФСП Карьеру. Идея простая: кандидат один раз честно показывает, что умеет, а дальше работодатели приходят к нему сами — с конкретной позицией и зарплатой.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Мы вдвоём сделали работающий сервис от теста до приглашения. Слева — главная страница прототипа.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Нас двое, поэтому каждый закрывал сразу несколько направлений. Впишите имена, роли и контакты.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Расскажите своими словами, как собралась команда. Остальное — про главные трудности.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Технически это обычный веб-сервис, без GPU и платных API. Главная ценность — в механике, а не в стеке.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Это главное отличие от обычных сайтов: инициатива у работодателя, и он видит проверенный уровень, а не самоописание.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На демо проходим этот путь целиком: регистрируемся, сдаём тест, переключаемся на работодателя и приглашаем.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Мы не генерируем вопросы нейросетью на лету: так нельзя гарантировать одинаковую сложность. Вместо этого — шаблоны с известной сложностью, из которых каждый раз получается новый вариант.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Реальных кандидатов у нас нет, поэтому мы создали тысячу синтетических с известным уровнем и проверили, как часто тест угадывает. Шесть ступеней — это строго, поэтому точное попадание ниже, чем ±1.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Работодатель может сам поменять веса и сделать любое условие жёстким фильтром — и увидит, сколько людей отсеялось.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Сравнивали с тем, как ищут на обычных сайтах: совпадение слов в резюме и заявленный грейд. Разница почти вдвое.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Мы сделали ровно так, как просили постановщики: ФСП — бонус внутри категории, а не пропуск в грейд.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демо есть компания, на которую пожаловались трое кандидатов: её приглашения уже остановлены.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Модели маленькие и работают без видеокарты. Персональные данные никуда не отправляются.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Здесь переходим к живому демо.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Спасибо! Готовы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/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3105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  <a:endParaRPr lang="ru-RU" dirty="0"/>
          </a:p>
        </p:txBody>
      </p:sp>
      <p:sp>
        <p:nvSpPr>
          <p:cNvPr id="42" name="Рисунок 41"/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3105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  <a:endParaRPr lang="ru-RU" sz="1600" b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/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/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</a:fld>
            <a:endParaRPr lang="ru-RU" dirty="0"/>
          </a:p>
        </p:txBody>
      </p:sp>
      <p:sp>
        <p:nvSpPr>
          <p:cNvPr id="45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  <a:endParaRPr lang="ru-RU" dirty="0"/>
          </a:p>
        </p:txBody>
      </p:sp>
      <p:sp>
        <p:nvSpPr>
          <p:cNvPr id="47" name="Текст 35"/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780" indent="-144780">
              <a:buClr>
                <a:schemeClr val="accent1"/>
              </a:buClr>
              <a:buFont typeface="Wingdings" panose="05000000000000000000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  <a:endParaRPr lang="ru-RU" dirty="0"/>
          </a:p>
          <a:p>
            <a:pPr lvl="0"/>
            <a:r>
              <a:rPr lang="en-US" dirty="0"/>
              <a:t>Telegram</a:t>
            </a:r>
            <a:endParaRPr lang="en-US" dirty="0"/>
          </a:p>
          <a:p>
            <a:pPr lvl="0"/>
            <a:r>
              <a:rPr lang="ru-RU" dirty="0"/>
              <a:t>Номер</a:t>
            </a:r>
            <a:endParaRPr lang="ru-RU" dirty="0"/>
          </a:p>
        </p:txBody>
      </p:sp>
      <p:sp>
        <p:nvSpPr>
          <p:cNvPr id="49" name="Текст 35"/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780" indent="-144780">
              <a:buClr>
                <a:schemeClr val="accent1"/>
              </a:buClr>
              <a:buFont typeface="Wingdings" panose="05000000000000000000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  <a:endParaRPr lang="ru-RU" dirty="0"/>
          </a:p>
          <a:p>
            <a:pPr lvl="0"/>
            <a:r>
              <a:rPr lang="en-US" dirty="0"/>
              <a:t>Telegram</a:t>
            </a:r>
            <a:endParaRPr lang="en-US" dirty="0"/>
          </a:p>
          <a:p>
            <a:pPr lvl="0"/>
            <a:r>
              <a:rPr lang="ru-RU" dirty="0"/>
              <a:t>Номер</a:t>
            </a:r>
            <a:endParaRPr lang="ru-RU" dirty="0"/>
          </a:p>
        </p:txBody>
      </p:sp>
      <p:sp>
        <p:nvSpPr>
          <p:cNvPr id="51" name="Текст 35"/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780" indent="-144780">
              <a:buClr>
                <a:schemeClr val="accent1"/>
              </a:buClr>
              <a:buFont typeface="Wingdings" panose="05000000000000000000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  <a:endParaRPr lang="ru-RU" dirty="0"/>
          </a:p>
          <a:p>
            <a:pPr lvl="0"/>
            <a:r>
              <a:rPr lang="en-US" dirty="0"/>
              <a:t>Telegram</a:t>
            </a:r>
            <a:endParaRPr lang="en-US" dirty="0"/>
          </a:p>
          <a:p>
            <a:pPr lvl="0"/>
            <a:r>
              <a:rPr lang="ru-RU" dirty="0"/>
              <a:t>Номер</a:t>
            </a:r>
            <a:endParaRPr lang="ru-RU" dirty="0"/>
          </a:p>
        </p:txBody>
      </p:sp>
      <p:sp>
        <p:nvSpPr>
          <p:cNvPr id="53" name="Текст 35"/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780" indent="-144780">
              <a:buClr>
                <a:schemeClr val="accent1"/>
              </a:buClr>
              <a:buFont typeface="Wingdings" panose="05000000000000000000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  <a:endParaRPr lang="ru-RU" dirty="0"/>
          </a:p>
          <a:p>
            <a:pPr lvl="0"/>
            <a:r>
              <a:rPr lang="en-US" dirty="0"/>
              <a:t>Telegram</a:t>
            </a:r>
            <a:endParaRPr lang="en-US" dirty="0"/>
          </a:p>
          <a:p>
            <a:pPr lvl="0"/>
            <a:r>
              <a:rPr lang="ru-RU" dirty="0"/>
              <a:t>Номер</a:t>
            </a:r>
            <a:endParaRPr lang="ru-RU" dirty="0"/>
          </a:p>
        </p:txBody>
      </p:sp>
      <p:sp>
        <p:nvSpPr>
          <p:cNvPr id="55" name="Текст 35"/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780" indent="-144780">
              <a:buClr>
                <a:schemeClr val="accent1"/>
              </a:buClr>
              <a:buFont typeface="Wingdings" panose="05000000000000000000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  <a:endParaRPr lang="ru-RU" dirty="0"/>
          </a:p>
          <a:p>
            <a:pPr lvl="0"/>
            <a:r>
              <a:rPr lang="en-US" dirty="0"/>
              <a:t>Telegram</a:t>
            </a:r>
            <a:endParaRPr lang="en-US" dirty="0"/>
          </a:p>
          <a:p>
            <a:pPr lvl="0"/>
            <a:r>
              <a:rPr lang="ru-RU" dirty="0"/>
              <a:t>Номер</a:t>
            </a:r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/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</a:fld>
            <a:endParaRPr lang="ru-RU"/>
          </a:p>
        </p:txBody>
      </p:sp>
      <p:sp>
        <p:nvSpPr>
          <p:cNvPr id="10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/>
          <p:cNvSpPr>
            <a:spLocks noGrp="1"/>
          </p:cNvSpPr>
          <p:nvPr>
            <p:ph idx="1" hasCustomPrompt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lang="ru-RU" dirty="0"/>
          </a:p>
        </p:txBody>
      </p:sp>
      <p:sp>
        <p:nvSpPr>
          <p:cNvPr id="21" name="Дата 3"/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</a:fld>
            <a:endParaRPr lang="ru-RU"/>
          </a:p>
        </p:txBody>
      </p:sp>
      <p:sp>
        <p:nvSpPr>
          <p:cNvPr id="22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</a:fld>
            <a:endParaRPr lang="ru-RU" dirty="0"/>
          </a:p>
        </p:txBody>
      </p:sp>
      <p:sp>
        <p:nvSpPr>
          <p:cNvPr id="24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 hasCustomPrompt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 hasCustomPrompt="1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lang="ru-RU" dirty="0"/>
          </a:p>
        </p:txBody>
      </p:sp>
      <p:sp>
        <p:nvSpPr>
          <p:cNvPr id="14" name="Дата 3"/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</a:fld>
            <a:endParaRPr lang="ru-RU"/>
          </a:p>
        </p:txBody>
      </p:sp>
      <p:sp>
        <p:nvSpPr>
          <p:cNvPr id="1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</a:fld>
            <a:endParaRPr lang="ru-RU" dirty="0"/>
          </a:p>
        </p:txBody>
      </p:sp>
      <p:sp>
        <p:nvSpPr>
          <p:cNvPr id="17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560" indent="0">
              <a:buNone/>
              <a:defRPr sz="1265" b="1"/>
            </a:lvl2pPr>
            <a:lvl3pPr marL="578485" indent="0">
              <a:buNone/>
              <a:defRPr sz="1140" b="1"/>
            </a:lvl3pPr>
            <a:lvl4pPr marL="868045" indent="0">
              <a:buNone/>
              <a:defRPr sz="1015" b="1"/>
            </a:lvl4pPr>
            <a:lvl5pPr marL="1157605" indent="0">
              <a:buNone/>
              <a:defRPr sz="1015" b="1"/>
            </a:lvl5pPr>
            <a:lvl6pPr marL="1447165" indent="0">
              <a:buNone/>
              <a:defRPr sz="1015" b="1"/>
            </a:lvl6pPr>
            <a:lvl7pPr marL="1736090" indent="0">
              <a:buNone/>
              <a:defRPr sz="1015" b="1"/>
            </a:lvl7pPr>
            <a:lvl8pPr marL="2025650" indent="0">
              <a:buNone/>
              <a:defRPr sz="1015" b="1"/>
            </a:lvl8pPr>
            <a:lvl9pPr marL="2315210" indent="0">
              <a:buNone/>
              <a:defRPr sz="1015" b="1"/>
            </a:lvl9pPr>
          </a:lstStyle>
          <a:p>
            <a:pPr lvl="0"/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 hasCustomPrompt="1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560" indent="0">
              <a:buNone/>
              <a:defRPr sz="1265" b="1"/>
            </a:lvl2pPr>
            <a:lvl3pPr marL="578485" indent="0">
              <a:buNone/>
              <a:defRPr sz="1140" b="1"/>
            </a:lvl3pPr>
            <a:lvl4pPr marL="868045" indent="0">
              <a:buNone/>
              <a:defRPr sz="1015" b="1"/>
            </a:lvl4pPr>
            <a:lvl5pPr marL="1157605" indent="0">
              <a:buNone/>
              <a:defRPr sz="1015" b="1"/>
            </a:lvl5pPr>
            <a:lvl6pPr marL="1447165" indent="0">
              <a:buNone/>
              <a:defRPr sz="1015" b="1"/>
            </a:lvl6pPr>
            <a:lvl7pPr marL="1736090" indent="0">
              <a:buNone/>
              <a:defRPr sz="1015" b="1"/>
            </a:lvl7pPr>
            <a:lvl8pPr marL="2025650" indent="0">
              <a:buNone/>
              <a:defRPr sz="1015" b="1"/>
            </a:lvl8pPr>
            <a:lvl9pPr marL="2315210" indent="0">
              <a:buNone/>
              <a:defRPr sz="1015" b="1"/>
            </a:lvl9pPr>
          </a:lstStyle>
          <a:p>
            <a:pPr lvl="0"/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4" hasCustomPrompt="1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lang="ru-RU"/>
          </a:p>
        </p:txBody>
      </p:sp>
      <p:sp>
        <p:nvSpPr>
          <p:cNvPr id="12" name="Дата 3"/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</a:fld>
            <a:endParaRPr lang="ru-RU"/>
          </a:p>
        </p:txBody>
      </p:sp>
      <p:sp>
        <p:nvSpPr>
          <p:cNvPr id="13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</a:fld>
            <a:endParaRPr lang="ru-RU" dirty="0"/>
          </a:p>
        </p:txBody>
      </p:sp>
      <p:sp>
        <p:nvSpPr>
          <p:cNvPr id="15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/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5"/>
            </a:lvl1pPr>
            <a:lvl2pPr>
              <a:defRPr sz="1520"/>
            </a:lvl2pPr>
            <a:lvl3pPr>
              <a:defRPr sz="1265"/>
            </a:lvl3pPr>
            <a:lvl4pPr>
              <a:defRPr sz="1140"/>
            </a:lvl4pPr>
            <a:lvl5pPr>
              <a:defRPr sz="1140"/>
            </a:lvl5pPr>
            <a:lvl6pPr>
              <a:defRPr sz="1265"/>
            </a:lvl6pPr>
            <a:lvl7pPr>
              <a:defRPr sz="1265"/>
            </a:lvl7pPr>
            <a:lvl8pPr>
              <a:defRPr sz="1265"/>
            </a:lvl8pPr>
            <a:lvl9pPr>
              <a:defRPr sz="1265"/>
            </a:lvl9pPr>
          </a:lstStyle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560" indent="0">
              <a:buNone/>
              <a:defRPr sz="885"/>
            </a:lvl2pPr>
            <a:lvl3pPr marL="578485" indent="0">
              <a:buNone/>
              <a:defRPr sz="760"/>
            </a:lvl3pPr>
            <a:lvl4pPr marL="868045" indent="0">
              <a:buNone/>
              <a:defRPr sz="630"/>
            </a:lvl4pPr>
            <a:lvl5pPr marL="1157605" indent="0">
              <a:buNone/>
              <a:defRPr sz="630"/>
            </a:lvl5pPr>
            <a:lvl6pPr marL="1447165" indent="0">
              <a:buNone/>
              <a:defRPr sz="630"/>
            </a:lvl6pPr>
            <a:lvl7pPr marL="1736090" indent="0">
              <a:buNone/>
              <a:defRPr sz="630"/>
            </a:lvl7pPr>
            <a:lvl8pPr marL="2025650" indent="0">
              <a:buNone/>
              <a:defRPr sz="630"/>
            </a:lvl8pPr>
            <a:lvl9pPr marL="2315210" indent="0">
              <a:buNone/>
              <a:defRPr sz="630"/>
            </a:lvl9pPr>
          </a:lstStyle>
          <a:p>
            <a:pPr lvl="0"/>
            <a:endParaRPr lang="ru-RU"/>
          </a:p>
        </p:txBody>
      </p:sp>
      <p:sp>
        <p:nvSpPr>
          <p:cNvPr id="8" name="Дата 3"/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</a:fld>
            <a:endParaRPr lang="ru-RU"/>
          </a:p>
        </p:txBody>
      </p:sp>
      <p:sp>
        <p:nvSpPr>
          <p:cNvPr id="9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1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/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</a:fld>
            <a:endParaRPr lang="ru-RU" dirty="0"/>
          </a:p>
        </p:txBody>
      </p:sp>
      <p:sp>
        <p:nvSpPr>
          <p:cNvPr id="11" name="Текст 6"/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ru-RU" dirty="0"/>
          </a:p>
        </p:txBody>
      </p:sp>
      <p:sp>
        <p:nvSpPr>
          <p:cNvPr id="12" name="Текст 9"/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  <a:endParaRPr lang="ru-RU" dirty="0"/>
          </a:p>
        </p:txBody>
      </p:sp>
      <p:sp>
        <p:nvSpPr>
          <p:cNvPr id="13" name="Текст 6"/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ru-RU" dirty="0"/>
          </a:p>
        </p:txBody>
      </p:sp>
      <p:sp>
        <p:nvSpPr>
          <p:cNvPr id="14" name="Текст 9"/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  <a:endParaRPr lang="ru-RU" dirty="0"/>
          </a:p>
        </p:txBody>
      </p:sp>
      <p:sp>
        <p:nvSpPr>
          <p:cNvPr id="15" name="Текст 6"/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ru-RU" dirty="0"/>
          </a:p>
        </p:txBody>
      </p:sp>
      <p:sp>
        <p:nvSpPr>
          <p:cNvPr id="16" name="Текст 9"/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  <a:endParaRPr lang="ru-RU" dirty="0"/>
          </a:p>
        </p:txBody>
      </p:sp>
      <p:sp>
        <p:nvSpPr>
          <p:cNvPr id="20" name="Текст 6"/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ru-RU" dirty="0"/>
          </a:p>
        </p:txBody>
      </p:sp>
      <p:sp>
        <p:nvSpPr>
          <p:cNvPr id="21" name="Текст 9"/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  <a:endParaRPr lang="ru-RU" dirty="0"/>
          </a:p>
        </p:txBody>
      </p:sp>
      <p:sp>
        <p:nvSpPr>
          <p:cNvPr id="22" name="Текст 6"/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ru-RU" dirty="0"/>
          </a:p>
        </p:txBody>
      </p:sp>
      <p:sp>
        <p:nvSpPr>
          <p:cNvPr id="23" name="Текст 9"/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  <a:endParaRPr lang="ru-RU" dirty="0"/>
          </a:p>
        </p:txBody>
      </p:sp>
      <p:sp>
        <p:nvSpPr>
          <p:cNvPr id="24" name="Текст 6"/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  <a:endParaRPr lang="ru-RU" dirty="0"/>
          </a:p>
        </p:txBody>
      </p:sp>
      <p:sp>
        <p:nvSpPr>
          <p:cNvPr id="25" name="Текст 9"/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  <a:endParaRPr lang="ru-RU" dirty="0"/>
          </a:p>
        </p:txBody>
      </p:sp>
      <p:sp>
        <p:nvSpPr>
          <p:cNvPr id="2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27" name="Текст 6"/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  <a:endParaRPr lang="ru-RU" dirty="0"/>
          </a:p>
        </p:txBody>
      </p:sp>
      <p:sp>
        <p:nvSpPr>
          <p:cNvPr id="28" name="Текст 6"/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  <a:endParaRPr lang="ru-RU" dirty="0"/>
          </a:p>
        </p:txBody>
      </p:sp>
      <p:sp>
        <p:nvSpPr>
          <p:cNvPr id="29" name="Текст 6"/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  <a:endParaRPr lang="ru-RU" dirty="0"/>
          </a:p>
        </p:txBody>
      </p:sp>
      <p:sp>
        <p:nvSpPr>
          <p:cNvPr id="30" name="Текст 6"/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  <a:endParaRPr lang="ru-RU" dirty="0"/>
          </a:p>
        </p:txBody>
      </p:sp>
      <p:sp>
        <p:nvSpPr>
          <p:cNvPr id="31" name="Текст 6"/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  <a:endParaRPr lang="ru-RU" dirty="0"/>
          </a:p>
        </p:txBody>
      </p:sp>
      <p:sp>
        <p:nvSpPr>
          <p:cNvPr id="32" name="Текст 6"/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  <a:endParaRPr lang="ru-RU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/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</a:fld>
            <a:endParaRPr lang="ru-RU" dirty="0"/>
          </a:p>
        </p:txBody>
      </p:sp>
      <p:sp>
        <p:nvSpPr>
          <p:cNvPr id="2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27" name="Рисунок 7"/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/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/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/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 lang="ru-RU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/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23" name="Текст 101"/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  <a:endParaRPr lang="ru-RU" dirty="0"/>
          </a:p>
        </p:txBody>
      </p:sp>
      <p:sp>
        <p:nvSpPr>
          <p:cNvPr id="75" name="Текст 74"/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ru-RU" dirty="0"/>
          </a:p>
        </p:txBody>
      </p:sp>
      <p:sp>
        <p:nvSpPr>
          <p:cNvPr id="76" name="Текст 74"/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ru-RU" dirty="0"/>
          </a:p>
        </p:txBody>
      </p:sp>
      <p:sp>
        <p:nvSpPr>
          <p:cNvPr id="77" name="Текст 74"/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ru-RU" dirty="0"/>
          </a:p>
        </p:txBody>
      </p:sp>
      <p:sp>
        <p:nvSpPr>
          <p:cNvPr id="78" name="Текст 74"/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ru-RU" dirty="0"/>
          </a:p>
        </p:txBody>
      </p:sp>
      <p:sp>
        <p:nvSpPr>
          <p:cNvPr id="79" name="Текст 74"/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ru-RU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/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</a:fld>
            <a:endParaRPr lang="ru-RU" dirty="0"/>
          </a:p>
        </p:txBody>
      </p:sp>
      <p:sp>
        <p:nvSpPr>
          <p:cNvPr id="2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11" name="Текст 35"/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2" name="Текст 35"/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 lang="ru-RU" dirty="0"/>
          </a:p>
        </p:txBody>
      </p:sp>
      <p:sp>
        <p:nvSpPr>
          <p:cNvPr id="14" name="Текст 35"/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5" name="Текст 35"/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 lang="ru-RU" dirty="0"/>
          </a:p>
        </p:txBody>
      </p:sp>
      <p:sp>
        <p:nvSpPr>
          <p:cNvPr id="16" name="Текст 35"/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7" name="Текст 35"/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 lang="ru-RU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/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</a:fld>
            <a:endParaRPr lang="ru-RU" dirty="0"/>
          </a:p>
        </p:txBody>
      </p:sp>
      <p:sp>
        <p:nvSpPr>
          <p:cNvPr id="2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11" name="Текст 35"/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2" name="Текст 35"/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 lang="ru-RU" dirty="0"/>
          </a:p>
        </p:txBody>
      </p:sp>
      <p:sp>
        <p:nvSpPr>
          <p:cNvPr id="14" name="Текст 35"/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5" name="Текст 35"/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 lang="ru-RU" dirty="0"/>
          </a:p>
        </p:txBody>
      </p:sp>
      <p:sp>
        <p:nvSpPr>
          <p:cNvPr id="16" name="Текст 35"/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7" name="Текст 35"/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 lang="ru-RU" dirty="0"/>
          </a:p>
        </p:txBody>
      </p:sp>
      <p:sp>
        <p:nvSpPr>
          <p:cNvPr id="18" name="Текст 35"/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9" name="Текст 35"/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 lang="ru-RU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/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</a:fld>
            <a:endParaRPr lang="ru-RU" dirty="0"/>
          </a:p>
        </p:txBody>
      </p:sp>
      <p:sp>
        <p:nvSpPr>
          <p:cNvPr id="2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11" name="Текст 35"/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2" name="Текст 35"/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 lang="ru-RU" dirty="0"/>
          </a:p>
        </p:txBody>
      </p:sp>
      <p:sp>
        <p:nvSpPr>
          <p:cNvPr id="14" name="Текст 35"/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5" name="Текст 35"/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 lang="ru-RU" dirty="0"/>
          </a:p>
        </p:txBody>
      </p:sp>
      <p:sp>
        <p:nvSpPr>
          <p:cNvPr id="16" name="Текст 35"/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7" name="Текст 35"/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 lang="ru-RU" dirty="0"/>
          </a:p>
        </p:txBody>
      </p:sp>
      <p:sp>
        <p:nvSpPr>
          <p:cNvPr id="18" name="Текст 35"/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9" name="Текст 35"/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 lang="ru-RU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/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</a:fld>
            <a:endParaRPr lang="ru-RU" dirty="0"/>
          </a:p>
        </p:txBody>
      </p:sp>
      <p:sp>
        <p:nvSpPr>
          <p:cNvPr id="8" name="Текст 35"/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9" name="Текст 35"/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 lang="ru-RU" dirty="0"/>
          </a:p>
        </p:txBody>
      </p:sp>
      <p:sp>
        <p:nvSpPr>
          <p:cNvPr id="72" name="Текст 35"/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73" name="Текст 35"/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 lang="ru-RU" dirty="0"/>
          </a:p>
        </p:txBody>
      </p:sp>
      <p:sp>
        <p:nvSpPr>
          <p:cNvPr id="74" name="Текст 35"/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75" name="Текст 35"/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 lang="ru-RU" dirty="0"/>
          </a:p>
        </p:txBody>
      </p:sp>
      <p:sp>
        <p:nvSpPr>
          <p:cNvPr id="76" name="Текст 35"/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77" name="Текст 35"/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 lang="ru-RU" dirty="0"/>
          </a:p>
        </p:txBody>
      </p:sp>
      <p:sp>
        <p:nvSpPr>
          <p:cNvPr id="78" name="Текст 35"/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79" name="Текст 35"/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 lang="ru-RU" dirty="0"/>
          </a:p>
        </p:txBody>
      </p:sp>
      <p:sp>
        <p:nvSpPr>
          <p:cNvPr id="100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  <a:endParaRPr lang="ru-RU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/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</a:fld>
            <a:endParaRPr lang="ru-RU" dirty="0"/>
          </a:p>
        </p:txBody>
      </p:sp>
      <p:sp>
        <p:nvSpPr>
          <p:cNvPr id="100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130" name="Текст 35"/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  <a:endParaRPr lang="ru-RU" dirty="0"/>
          </a:p>
        </p:txBody>
      </p:sp>
      <p:sp>
        <p:nvSpPr>
          <p:cNvPr id="152" name="Текст 35"/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  <a:endParaRPr lang="ru-RU" dirty="0"/>
          </a:p>
        </p:txBody>
      </p:sp>
      <p:sp>
        <p:nvSpPr>
          <p:cNvPr id="153" name="Текст 35"/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  <a:endParaRPr lang="ru-RU" dirty="0"/>
          </a:p>
        </p:txBody>
      </p:sp>
      <p:sp>
        <p:nvSpPr>
          <p:cNvPr id="189" name="Текст 35"/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  <a:endParaRPr lang="ru-RU" dirty="0"/>
          </a:p>
        </p:txBody>
      </p:sp>
      <p:sp>
        <p:nvSpPr>
          <p:cNvPr id="190" name="Текст 35"/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  <a:endParaRPr lang="ru-RU" dirty="0"/>
          </a:p>
        </p:txBody>
      </p:sp>
      <p:sp>
        <p:nvSpPr>
          <p:cNvPr id="191" name="Текст 35"/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  <a:endParaRPr lang="ru-RU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/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  <p:txBody>
          <a:bodyPr/>
          <a:p/>
        </p:txBody>
      </p:sp>
      <p:sp>
        <p:nvSpPr>
          <p:cNvPr id="5" name="Дата 3"/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</a:fld>
            <a:endParaRPr lang="ru-RU" dirty="0"/>
          </a:p>
        </p:txBody>
      </p:sp>
      <p:sp>
        <p:nvSpPr>
          <p:cNvPr id="100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15" hasCustomPrompt="1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lang="ru-RU"/>
          </a:p>
        </p:txBody>
      </p:sp>
      <p:sp>
        <p:nvSpPr>
          <p:cNvPr id="90" name="Текст 7"/>
          <p:cNvSpPr>
            <a:spLocks noGrp="1"/>
          </p:cNvSpPr>
          <p:nvPr>
            <p:ph type="body" sz="quarter" idx="16" hasCustomPrompt="1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lang="ru-RU"/>
          </a:p>
        </p:txBody>
      </p:sp>
      <p:sp>
        <p:nvSpPr>
          <p:cNvPr id="91" name="Текст 7"/>
          <p:cNvSpPr>
            <a:spLocks noGrp="1"/>
          </p:cNvSpPr>
          <p:nvPr>
            <p:ph type="body" sz="quarter" idx="17" hasCustomPrompt="1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/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</a:fld>
            <a:endParaRPr lang="ru-RU" dirty="0"/>
          </a:p>
        </p:txBody>
      </p:sp>
      <p:sp>
        <p:nvSpPr>
          <p:cNvPr id="100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15" hasCustomPrompt="1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lang="ru-RU"/>
          </a:p>
        </p:txBody>
      </p:sp>
      <p:sp>
        <p:nvSpPr>
          <p:cNvPr id="90" name="Текст 7"/>
          <p:cNvSpPr>
            <a:spLocks noGrp="1"/>
          </p:cNvSpPr>
          <p:nvPr>
            <p:ph type="body" sz="quarter" idx="16" hasCustomPrompt="1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lang="ru-RU"/>
          </a:p>
        </p:txBody>
      </p:sp>
      <p:sp>
        <p:nvSpPr>
          <p:cNvPr id="79" name="Picture Placeholder 1"/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  <p:txBody>
          <a:bodyPr/>
          <a:p/>
        </p:txBody>
      </p:sp>
      <p:sp>
        <p:nvSpPr>
          <p:cNvPr id="123" name="Picture Placeholder 1"/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  <p:txBody>
          <a:bodyPr/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/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  <p:txBody>
          <a:bodyPr/>
          <a:p/>
        </p:txBody>
      </p:sp>
      <p:sp>
        <p:nvSpPr>
          <p:cNvPr id="130" name="Текст 35"/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46" name="Текст 35"/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 lang="ru-RU" dirty="0"/>
          </a:p>
        </p:txBody>
      </p:sp>
      <p:sp>
        <p:nvSpPr>
          <p:cNvPr id="147" name="Текст 35"/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48" name="Текст 35"/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 lang="ru-RU" dirty="0"/>
          </a:p>
        </p:txBody>
      </p:sp>
      <p:sp>
        <p:nvSpPr>
          <p:cNvPr id="149" name="Текст 35"/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50" name="Текст 35"/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 lang="ru-RU" dirty="0"/>
          </a:p>
        </p:txBody>
      </p:sp>
      <p:sp>
        <p:nvSpPr>
          <p:cNvPr id="151" name="Текст 35"/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endParaRPr lang="ru-RU" dirty="0"/>
          </a:p>
        </p:txBody>
      </p:sp>
      <p:sp>
        <p:nvSpPr>
          <p:cNvPr id="152" name="Текст 35"/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endParaRPr lang="ru-RU" dirty="0"/>
          </a:p>
        </p:txBody>
      </p:sp>
      <p:cxnSp>
        <p:nvCxnSpPr>
          <p:cNvPr id="168" name="Google Shape;2799;p94"/>
          <p:cNvCxnSpPr/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/>
          <p:cNvCxnSpPr/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/>
          <p:cNvCxnSpPr/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/>
          <p:cNvCxnSpPr/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Дата 8"/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/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  <p:txBody>
          <a:bodyPr/>
          <a:p/>
        </p:txBody>
      </p:sp>
      <p:sp>
        <p:nvSpPr>
          <p:cNvPr id="75" name="Picture Placeholder 1"/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  <p:txBody>
          <a:bodyPr/>
          <a:p/>
        </p:txBody>
      </p:sp>
      <p:sp>
        <p:nvSpPr>
          <p:cNvPr id="102" name="Picture Placeholder 1"/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  <p:txBody>
          <a:bodyPr/>
          <a:p/>
        </p:txBody>
      </p:sp>
      <p:sp>
        <p:nvSpPr>
          <p:cNvPr id="171" name="Picture Placeholder 1"/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  <p:txBody>
          <a:bodyPr/>
          <a:p/>
        </p:txBody>
      </p:sp>
      <p:sp>
        <p:nvSpPr>
          <p:cNvPr id="5" name="Дата 3"/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</a:fld>
            <a:endParaRPr lang="ru-RU" dirty="0"/>
          </a:p>
        </p:txBody>
      </p:sp>
      <p:sp>
        <p:nvSpPr>
          <p:cNvPr id="197" name="Текст 7"/>
          <p:cNvSpPr>
            <a:spLocks noGrp="1"/>
          </p:cNvSpPr>
          <p:nvPr>
            <p:ph type="body" sz="quarter" idx="18" hasCustomPrompt="1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lang="ru-RU"/>
          </a:p>
        </p:txBody>
      </p:sp>
      <p:sp>
        <p:nvSpPr>
          <p:cNvPr id="198" name="Текст 7"/>
          <p:cNvSpPr>
            <a:spLocks noGrp="1"/>
          </p:cNvSpPr>
          <p:nvPr>
            <p:ph type="body" sz="quarter" idx="19" hasCustomPrompt="1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lang="ru-RU"/>
          </a:p>
        </p:txBody>
      </p:sp>
      <p:sp>
        <p:nvSpPr>
          <p:cNvPr id="199" name="Текст 7"/>
          <p:cNvSpPr>
            <a:spLocks noGrp="1"/>
          </p:cNvSpPr>
          <p:nvPr>
            <p:ph type="body" sz="quarter" idx="20" hasCustomPrompt="1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lang="ru-RU"/>
          </a:p>
        </p:txBody>
      </p:sp>
      <p:sp>
        <p:nvSpPr>
          <p:cNvPr id="200" name="Текст 7"/>
          <p:cNvSpPr>
            <a:spLocks noGrp="1"/>
          </p:cNvSpPr>
          <p:nvPr>
            <p:ph type="body" sz="quarter" idx="21" hasCustomPrompt="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image" Target="../media/image2.png"/><Relationship Id="rId2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  <a:endParaRPr lang="ru-RU" dirty="0"/>
          </a:p>
          <a:p>
            <a:pPr lvl="2"/>
            <a:r>
              <a:rPr lang="ru-RU" dirty="0"/>
              <a:t>Третий уровень</a:t>
            </a:r>
            <a:endParaRPr lang="ru-RU" dirty="0"/>
          </a:p>
          <a:p>
            <a:pPr lvl="3"/>
            <a:r>
              <a:rPr lang="ru-RU" dirty="0"/>
              <a:t>Четвертый уровень</a:t>
            </a:r>
            <a:endParaRPr lang="ru-RU" dirty="0"/>
          </a:p>
          <a:p>
            <a:pPr lvl="4"/>
            <a:r>
              <a:rPr lang="ru-RU" dirty="0"/>
              <a:t>Пятый уровень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ftr="0" dt="0"/>
  <p:txStyles>
    <p:titleStyle>
      <a:lvl1pPr algn="l" defTabSz="578485" rtl="0" eaLnBrk="1" latinLnBrk="0" hangingPunct="1">
        <a:lnSpc>
          <a:spcPct val="90000"/>
        </a:lnSpc>
        <a:spcBef>
          <a:spcPct val="0"/>
        </a:spcBef>
        <a:buNone/>
        <a:defRPr sz="1995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780" indent="-144780" algn="l" defTabSz="578485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450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340" indent="-144780" algn="l" defTabSz="578485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70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265" indent="-144780" algn="l" defTabSz="578485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995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5" indent="-144780" algn="l" defTabSz="578485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905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385" indent="-144780" algn="l" defTabSz="578485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905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310" indent="-144780" algn="l" defTabSz="578485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40" kern="1200">
          <a:solidFill>
            <a:schemeClr val="tx1"/>
          </a:solidFill>
          <a:latin typeface="+mn-lt"/>
          <a:ea typeface="+mn-ea"/>
          <a:cs typeface="+mn-cs"/>
        </a:defRPr>
      </a:lvl6pPr>
      <a:lvl7pPr marL="1880870" indent="-144780" algn="l" defTabSz="578485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40" kern="1200">
          <a:solidFill>
            <a:schemeClr val="tx1"/>
          </a:solidFill>
          <a:latin typeface="+mn-lt"/>
          <a:ea typeface="+mn-ea"/>
          <a:cs typeface="+mn-cs"/>
        </a:defRPr>
      </a:lvl7pPr>
      <a:lvl8pPr marL="2170430" indent="-144780" algn="l" defTabSz="578485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40" kern="1200">
          <a:solidFill>
            <a:schemeClr val="tx1"/>
          </a:solidFill>
          <a:latin typeface="+mn-lt"/>
          <a:ea typeface="+mn-ea"/>
          <a:cs typeface="+mn-cs"/>
        </a:defRPr>
      </a:lvl8pPr>
      <a:lvl9pPr marL="2459990" indent="-144780" algn="l" defTabSz="578485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485" rtl="0" eaLnBrk="1" latinLnBrk="0" hangingPunct="1">
        <a:defRPr sz="1140" kern="1200">
          <a:solidFill>
            <a:schemeClr val="tx1"/>
          </a:solidFill>
          <a:latin typeface="+mn-lt"/>
          <a:ea typeface="+mn-ea"/>
          <a:cs typeface="+mn-cs"/>
        </a:defRPr>
      </a:lvl1pPr>
      <a:lvl2pPr marL="289560" algn="l" defTabSz="578485" rtl="0" eaLnBrk="1" latinLnBrk="0" hangingPunct="1">
        <a:defRPr sz="1140" kern="1200">
          <a:solidFill>
            <a:schemeClr val="tx1"/>
          </a:solidFill>
          <a:latin typeface="+mn-lt"/>
          <a:ea typeface="+mn-ea"/>
          <a:cs typeface="+mn-cs"/>
        </a:defRPr>
      </a:lvl2pPr>
      <a:lvl3pPr marL="578485" algn="l" defTabSz="578485" rtl="0" eaLnBrk="1" latinLnBrk="0" hangingPunct="1">
        <a:defRPr sz="1140" kern="1200">
          <a:solidFill>
            <a:schemeClr val="tx1"/>
          </a:solidFill>
          <a:latin typeface="+mn-lt"/>
          <a:ea typeface="+mn-ea"/>
          <a:cs typeface="+mn-cs"/>
        </a:defRPr>
      </a:lvl3pPr>
      <a:lvl4pPr marL="868045" algn="l" defTabSz="578485" rtl="0" eaLnBrk="1" latinLnBrk="0" hangingPunct="1">
        <a:defRPr sz="1140" kern="1200">
          <a:solidFill>
            <a:schemeClr val="tx1"/>
          </a:solidFill>
          <a:latin typeface="+mn-lt"/>
          <a:ea typeface="+mn-ea"/>
          <a:cs typeface="+mn-cs"/>
        </a:defRPr>
      </a:lvl4pPr>
      <a:lvl5pPr marL="1157605" algn="l" defTabSz="578485" rtl="0" eaLnBrk="1" latinLnBrk="0" hangingPunct="1">
        <a:defRPr sz="1140" kern="1200">
          <a:solidFill>
            <a:schemeClr val="tx1"/>
          </a:solidFill>
          <a:latin typeface="+mn-lt"/>
          <a:ea typeface="+mn-ea"/>
          <a:cs typeface="+mn-cs"/>
        </a:defRPr>
      </a:lvl5pPr>
      <a:lvl6pPr marL="1447165" algn="l" defTabSz="578485" rtl="0" eaLnBrk="1" latinLnBrk="0" hangingPunct="1">
        <a:defRPr sz="1140" kern="1200">
          <a:solidFill>
            <a:schemeClr val="tx1"/>
          </a:solidFill>
          <a:latin typeface="+mn-lt"/>
          <a:ea typeface="+mn-ea"/>
          <a:cs typeface="+mn-cs"/>
        </a:defRPr>
      </a:lvl6pPr>
      <a:lvl7pPr marL="1736090" algn="l" defTabSz="578485" rtl="0" eaLnBrk="1" latinLnBrk="0" hangingPunct="1">
        <a:defRPr sz="1140" kern="1200">
          <a:solidFill>
            <a:schemeClr val="tx1"/>
          </a:solidFill>
          <a:latin typeface="+mn-lt"/>
          <a:ea typeface="+mn-ea"/>
          <a:cs typeface="+mn-cs"/>
        </a:defRPr>
      </a:lvl7pPr>
      <a:lvl8pPr marL="2025650" algn="l" defTabSz="578485" rtl="0" eaLnBrk="1" latinLnBrk="0" hangingPunct="1">
        <a:defRPr sz="1140" kern="1200">
          <a:solidFill>
            <a:schemeClr val="tx1"/>
          </a:solidFill>
          <a:latin typeface="+mn-lt"/>
          <a:ea typeface="+mn-ea"/>
          <a:cs typeface="+mn-cs"/>
        </a:defRPr>
      </a:lvl8pPr>
      <a:lvl9pPr marL="2315210" algn="l" defTabSz="578485" rtl="0" eaLnBrk="1" latinLnBrk="0" hangingPunct="1">
        <a:defRPr sz="11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tags" Target="../tags/tag1.xml"/><Relationship Id="rId4" Type="http://schemas.openxmlformats.org/officeDocument/2006/relationships/tags" Target="../tags/tag2.xml"/><Relationship Id="rId5" Type="http://schemas.openxmlformats.org/officeDocument/2006/relationships/tags" Target="../tags/tag3.xml"/><Relationship Id="rId6" Type="http://schemas.openxmlformats.org/officeDocument/2006/relationships/tags" Target="../tags/tag4.xml"/><Relationship Id="rId7" Type="http://schemas.openxmlformats.org/officeDocument/2006/relationships/tags" Target="../tags/tag5.xml"/><Relationship Id="rId8" Type="http://schemas.openxmlformats.org/officeDocument/2006/relationships/tags" Target="../tags/tag6.xml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jpeg"/><Relationship Id="rId3" Type="http://schemas.openxmlformats.org/officeDocument/2006/relationships/image" Target="../media/image7.jpe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6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20.xml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605" indent="0"/>
            <a:r>
              <a:rPr lang="ru-RU" sz="2600" b="1">
                <a:solidFill>
                  <a:srgbClr val="FFFFFF"/>
                </a:solidFill>
              </a:rPr>
              <a:t>ФСП Карьера</a:t>
            </a:r>
            <a:endParaRPr lang="ru-RU" sz="2600" b="1">
              <a:solidFill>
                <a:srgbClr val="FFFFFF"/>
              </a:solidFill>
            </a:endParaRPr>
          </a:p>
          <a:p>
            <a:pPr marL="268605" indent="0"/>
            <a:r>
              <a:rPr lang="ru-RU" sz="2600">
                <a:solidFill>
                  <a:srgbClr val="FFFFFF"/>
                </a:solidFill>
              </a:rPr>
              <a:t>команда «</a:t>
            </a:r>
            <a:r>
              <a:rPr lang="en-US" sz="2600">
                <a:solidFill>
                  <a:srgbClr val="FFFFFF"/>
                </a:solidFill>
              </a:rPr>
              <a:t>Shurima’s Team</a:t>
            </a:r>
            <a:r>
              <a:rPr lang="ru-RU" sz="2600">
                <a:solidFill>
                  <a:srgbClr val="FFFFFF"/>
                </a:solidFill>
              </a:rPr>
              <a:t>»</a:t>
            </a:r>
            <a:endParaRPr lang="ru-RU" sz="2600">
              <a:solidFill>
                <a:srgbClr val="FFFFFF"/>
              </a:solidFill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>
            <a:normAutofit lnSpcReduction="10000"/>
          </a:bodyPr>
          <a:lstStyle/>
          <a:p>
            <a:pPr marL="271780" indent="-3175"/>
            <a:r>
              <a:rPr lang="ru-RU" dirty="0"/>
              <a:t>Цифровая платформа-агрегатор ИТ-вакансий </a:t>
            </a:r>
            <a:br>
              <a:rPr lang="ru-RU" dirty="0"/>
            </a:br>
            <a:r>
              <a:rPr lang="ru-RU" dirty="0"/>
              <a:t>с верифицированным профилем достижений </a:t>
            </a:r>
            <a:br>
              <a:rPr lang="ru-RU" dirty="0"/>
            </a:br>
            <a:r>
              <a:rPr lang="ru-RU" dirty="0"/>
              <a:t>участника Федерации спортивного программирования (ФСП)</a:t>
            </a:r>
            <a:endParaRPr lang="ru-RU" dirty="0"/>
          </a:p>
        </p:txBody>
      </p:sp>
      <p:sp>
        <p:nvSpPr>
          <p:cNvPr id="2" name="Скругленный прямоугольник 1"/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075" y="631174"/>
            <a:ext cx="4905194" cy="6200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330708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pic>
        <p:nvPicPr>
          <p:cNvPr id="2" name="Рисунок 1" descr="_crop_2_d_land.png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4" b="14"/>
          <a:stretch>
            <a:fillRect/>
          </a:stretch>
        </p:blipFill>
        <p:spPr>
          <a:xfrm>
            <a:off x="0" y="335267"/>
            <a:ext cx="6456363" cy="2971784"/>
          </a:xfrm>
        </p:spPr>
      </p:pic>
      <p:sp>
        <p:nvSpPr>
          <p:cNvPr id="6" name="Текст 8"/>
          <p:cNvSpPr txBox="1"/>
          <p:nvPr>
            <p:custDataLst>
              <p:tags r:id="rId3"/>
            </p:custDataLst>
          </p:nvPr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780" indent="-144780" algn="l" defTabSz="578485" rtl="0" eaLnBrk="1" latinLnBrk="0" hangingPunct="1">
              <a:lnSpc>
                <a:spcPct val="90000"/>
              </a:lnSpc>
              <a:spcBef>
                <a:spcPts val="63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34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27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26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9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0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38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0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31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87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43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99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  <a:endParaRPr lang="ru-RU" sz="1600" b="1" dirty="0">
              <a:solidFill>
                <a:schemeClr val="accent5"/>
              </a:solidFill>
            </a:endParaRPr>
          </a:p>
        </p:txBody>
      </p:sp>
      <p:sp>
        <p:nvSpPr>
          <p:cNvPr id="8" name="Текст 8"/>
          <p:cNvSpPr txBox="1"/>
          <p:nvPr>
            <p:custDataLst>
              <p:tags r:id="rId4"/>
            </p:custDataLst>
          </p:nvPr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780" indent="-144780" algn="l" defTabSz="578485" rtl="0" eaLnBrk="1" latinLnBrk="0" hangingPunct="1">
              <a:lnSpc>
                <a:spcPct val="90000"/>
              </a:lnSpc>
              <a:spcBef>
                <a:spcPts val="63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34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27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26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9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0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38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0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31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87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43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99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ru-RU" sz="1100" dirty="0">
                <a:solidFill>
                  <a:srgbClr val="1C1D22"/>
                </a:solidFill>
              </a:rPr>
              <a:t>Грейд подтверждает тест, а не строчка в резюме. Задания каждый раз собираются заново, поэтому ответы бесполезно пересылать друг другу. Работодатель видит, почему человек попал в подборку, а участники ФСП получают заслуженный плюс за свои соревнования.</a:t>
            </a:r>
            <a:endParaRPr lang="ru-RU" sz="1100" dirty="0">
              <a:solidFill>
                <a:srgbClr val="1C1D22"/>
              </a:solidFill>
            </a:endParaRPr>
          </a:p>
        </p:txBody>
      </p:sp>
      <p:sp>
        <p:nvSpPr>
          <p:cNvPr id="14" name="Текст 8"/>
          <p:cNvSpPr txBox="1"/>
          <p:nvPr/>
        </p:nvSpPr>
        <p:spPr>
          <a:xfrm>
            <a:off x="395605" y="4541520"/>
            <a:ext cx="5629910" cy="280162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780" indent="-144780" algn="l" defTabSz="578485" rtl="0" eaLnBrk="1" latinLnBrk="0" hangingPunct="1">
              <a:lnSpc>
                <a:spcPct val="90000"/>
              </a:lnSpc>
              <a:spcBef>
                <a:spcPts val="63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34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27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26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9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0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38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0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31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87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43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99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200" b="1" dirty="0">
                <a:solidFill>
                  <a:srgbClr val="1C1D22"/>
                </a:solidFill>
              </a:rPr>
              <a:t>Участники: Анатолий Ким</a:t>
            </a:r>
            <a:r>
              <a:rPr lang="ru-RU" sz="1200" b="1" dirty="0">
                <a:solidFill>
                  <a:srgbClr val="1C1D22"/>
                </a:solidFill>
              </a:rPr>
              <a:t>, Харин Иван</a:t>
            </a:r>
            <a:endParaRPr lang="ru-RU" sz="1200" b="1" dirty="0">
              <a:solidFill>
                <a:srgbClr val="1C1D22"/>
              </a:solidFill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200" b="1" dirty="0">
                <a:solidFill>
                  <a:srgbClr val="1C1D22"/>
                </a:solidFill>
              </a:rPr>
              <a:t>Нас: </a:t>
            </a:r>
            <a:r>
              <a:rPr lang="ru-RU" sz="1200" b="1" dirty="0">
                <a:solidFill>
                  <a:srgbClr val="1C1D22"/>
                </a:solidFill>
              </a:rPr>
              <a:t>2 человека</a:t>
            </a:r>
            <a:endParaRPr lang="ru-RU" sz="1200" b="1" dirty="0">
              <a:solidFill>
                <a:srgbClr val="1C1D22"/>
              </a:solidFill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200" b="1" dirty="0">
                <a:solidFill>
                  <a:srgbClr val="1C1D22"/>
                </a:solidFill>
              </a:rPr>
              <a:t>Кто мы: студенты 1-го курса (МИЭТа и МичГАУ)</a:t>
            </a:r>
            <a:endParaRPr lang="ru-RU" sz="1200" b="1" dirty="0">
              <a:solidFill>
                <a:srgbClr val="1C1D22"/>
              </a:solidFill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200" b="1" dirty="0">
                <a:solidFill>
                  <a:srgbClr val="1C1D22"/>
                </a:solidFill>
              </a:rPr>
              <a:t>Город: Москва</a:t>
            </a:r>
            <a:endParaRPr lang="ru-RU" sz="1200" b="1" dirty="0">
              <a:solidFill>
                <a:srgbClr val="1C1D22"/>
              </a:solidFill>
            </a:endParaRPr>
          </a:p>
        </p:txBody>
      </p:sp>
      <p:sp>
        <p:nvSpPr>
          <p:cNvPr id="15" name="Текст 8"/>
          <p:cNvSpPr txBox="1"/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780" indent="-144780" algn="l" defTabSz="578485" rtl="0" eaLnBrk="1" latinLnBrk="0" hangingPunct="1">
              <a:lnSpc>
                <a:spcPct val="90000"/>
              </a:lnSpc>
              <a:spcBef>
                <a:spcPts val="63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34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27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26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9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0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38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0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31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87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43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99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  <a:endParaRPr lang="ru-RU" sz="1600" b="1" dirty="0">
              <a:solidFill>
                <a:schemeClr val="accent5"/>
              </a:solidFill>
            </a:endParaRPr>
          </a:p>
        </p:txBody>
      </p:sp>
      <p:sp>
        <p:nvSpPr>
          <p:cNvPr id="18" name="Заголовок 6"/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r>
              <a:rPr lang="ru-RU" sz="2400" b="1">
                <a:solidFill>
                  <a:srgbClr val="310F53"/>
                </a:solidFill>
              </a:rPr>
              <a:t>Коротко о нас</a:t>
            </a:r>
            <a:endParaRPr lang="ru-RU" sz="2400" b="1">
              <a:solidFill>
                <a:srgbClr val="310F53"/>
              </a:solidFill>
            </a:endParaRPr>
          </a:p>
        </p:txBody>
      </p:sp>
      <p:cxnSp>
        <p:nvCxnSpPr>
          <p:cNvPr id="7" name="Прямая соединительная линия 6"/>
          <p:cNvCxnSpPr/>
          <p:nvPr>
            <p:custDataLst>
              <p:tags r:id="rId5"/>
            </p:custDataLst>
          </p:nvPr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>
            <p:custDataLst>
              <p:tags r:id="rId6"/>
            </p:custDataLst>
          </p:nvPr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/>
          <p:cNvSpPr txBox="1"/>
          <p:nvPr>
            <p:custDataLst>
              <p:tags r:id="rId7"/>
            </p:custDataLst>
          </p:nvPr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780" indent="-144780" algn="l" defTabSz="578485" rtl="0" eaLnBrk="1" latinLnBrk="0" hangingPunct="1">
              <a:lnSpc>
                <a:spcPct val="90000"/>
              </a:lnSpc>
              <a:spcBef>
                <a:spcPts val="63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34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27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26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9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0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38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0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31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87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43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99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  <a:endParaRPr lang="ru-RU" sz="1600" b="1" dirty="0">
              <a:solidFill>
                <a:schemeClr val="accent5"/>
              </a:solidFill>
            </a:endParaRPr>
          </a:p>
        </p:txBody>
      </p:sp>
      <p:sp>
        <p:nvSpPr>
          <p:cNvPr id="5" name="Текст 8"/>
          <p:cNvSpPr txBox="1"/>
          <p:nvPr>
            <p:custDataLst>
              <p:tags r:id="rId8"/>
            </p:custDataLst>
          </p:nvPr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780" indent="-144780" algn="l" defTabSz="578485" rtl="0" eaLnBrk="1" latinLnBrk="0" hangingPunct="1">
              <a:lnSpc>
                <a:spcPct val="90000"/>
              </a:lnSpc>
              <a:spcBef>
                <a:spcPts val="63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34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27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26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9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0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38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0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31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87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43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99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ru-RU" sz="1100" dirty="0">
                <a:solidFill>
                  <a:srgbClr val="1C1D22"/>
                </a:solidFill>
              </a:rPr>
              <a:t>Вместо рассылки резюме кандидат один раз проходит опрос и тест и получает категорию — например, «Backend · Middle». Работодатель описывает, кого ищет, обычными словами, выбирает подходящую категорию и сам пишет конкретному человеку, сразу указывая зарплату.</a:t>
            </a:r>
            <a:endParaRPr lang="ru-RU" sz="1100" dirty="0">
              <a:solidFill>
                <a:srgbClr val="1C1D22"/>
              </a:solidFill>
            </a:endParaRPr>
          </a:p>
        </p:txBody>
      </p:sp>
      <p:sp>
        <p:nvSpPr>
          <p:cNvPr id="10" name="Номер слайда 35"/>
          <p:cNvSpPr txBox="1"/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1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3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</a:fld>
            <a:endParaRPr lang="ru-RU" sz="1200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/>
          <p:cNvSpPr/>
          <p:nvPr/>
        </p:nvSpPr>
        <p:spPr>
          <a:xfrm>
            <a:off x="6382512" y="1517904"/>
            <a:ext cx="4389120" cy="4837176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/>
          <p:cNvSpPr txBox="1"/>
          <p:nvPr/>
        </p:nvSpPr>
        <p:spPr>
          <a:xfrm>
            <a:off x="6611112" y="4498975"/>
            <a:ext cx="3931920" cy="192024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780" indent="-144780" algn="l" defTabSz="578485" rtl="0" eaLnBrk="1" latinLnBrk="0" hangingPunct="1">
              <a:lnSpc>
                <a:spcPct val="90000"/>
              </a:lnSpc>
              <a:spcBef>
                <a:spcPts val="63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34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27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26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9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0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38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0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31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87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43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99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b="1">
                <a:solidFill>
                  <a:srgbClr val="1C1D22"/>
                </a:solidFill>
              </a:rPr>
              <a:t>Роль: Аналитик</a:t>
            </a:r>
            <a:endParaRPr lang="ru-RU" sz="1200">
              <a:solidFill>
                <a:srgbClr val="1C1D22"/>
              </a:solidFill>
            </a:endParaRP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b="1">
                <a:solidFill>
                  <a:srgbClr val="1C1D22"/>
                </a:solidFill>
              </a:rPr>
              <a:t>Telegram: </a:t>
            </a:r>
            <a:r>
              <a:rPr lang="en-US" sz="1200" b="1">
                <a:solidFill>
                  <a:srgbClr val="1C1D22"/>
                </a:solidFill>
              </a:rPr>
              <a:t>@sjouky</a:t>
            </a:r>
            <a:endParaRPr lang="ru-RU" sz="1200">
              <a:solidFill>
                <a:srgbClr val="1C1D22"/>
              </a:solidFill>
            </a:endParaRP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b="1">
                <a:solidFill>
                  <a:srgbClr val="1C1D22"/>
                </a:solidFill>
              </a:rPr>
              <a:t>Телефон: +79806766810</a:t>
            </a:r>
            <a:endParaRPr lang="ru-RU" sz="1200">
              <a:solidFill>
                <a:srgbClr val="1C1D22"/>
              </a:solidFill>
            </a:endParaRP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b="1">
                <a:solidFill>
                  <a:srgbClr val="1C1D22"/>
                </a:solidFill>
              </a:rPr>
              <a:t>Учёба / работа: МичГАУ</a:t>
            </a:r>
            <a:r>
              <a:rPr lang="en-US" sz="1200" b="1">
                <a:solidFill>
                  <a:srgbClr val="1C1D22"/>
                </a:solidFill>
              </a:rPr>
              <a:t>/</a:t>
            </a:r>
            <a:r>
              <a:rPr lang="ru-RU" sz="1200" b="1">
                <a:solidFill>
                  <a:srgbClr val="1C1D22"/>
                </a:solidFill>
              </a:rPr>
              <a:t>Фриланс</a:t>
            </a:r>
            <a:endParaRPr lang="ru-RU" sz="1200" b="1">
              <a:solidFill>
                <a:srgbClr val="1C1D22"/>
              </a:solidFill>
            </a:endParaRPr>
          </a:p>
        </p:txBody>
      </p:sp>
      <p:sp>
        <p:nvSpPr>
          <p:cNvPr id="58" name="Текст 8"/>
          <p:cNvSpPr txBox="1"/>
          <p:nvPr/>
        </p:nvSpPr>
        <p:spPr>
          <a:xfrm>
            <a:off x="6656705" y="3870960"/>
            <a:ext cx="3931920" cy="62801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780" indent="-144780" algn="l" defTabSz="578485" rtl="0" eaLnBrk="1" latinLnBrk="0" hangingPunct="1">
              <a:lnSpc>
                <a:spcPct val="90000"/>
              </a:lnSpc>
              <a:spcBef>
                <a:spcPts val="63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34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27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26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9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0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38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0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31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87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43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99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b="1" dirty="0">
                <a:solidFill>
                  <a:srgbClr val="520978"/>
                </a:solidFill>
              </a:rPr>
              <a:t>Харин Иван</a:t>
            </a:r>
            <a:endParaRPr lang="ru-RU" sz="1800" b="1" dirty="0">
              <a:solidFill>
                <a:srgbClr val="520978"/>
              </a:solidFill>
            </a:endParaRPr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1446530" y="1519174"/>
            <a:ext cx="4389120" cy="4837176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Рисунок 1"/>
          <p:cNvSpPr>
            <a:spLocks noGrp="1"/>
          </p:cNvSpPr>
          <p:nvPr>
            <p:ph type="pic" sz="quarter" idx="4294967295"/>
          </p:nvPr>
        </p:nvSpPr>
        <p:spPr>
          <a:xfrm>
            <a:off x="2561590" y="1776095"/>
            <a:ext cx="1737360" cy="1600200"/>
          </a:xfrm>
        </p:spPr>
      </p:sp>
      <p:sp>
        <p:nvSpPr>
          <p:cNvPr id="3" name="Рисунок 2"/>
          <p:cNvSpPr>
            <a:spLocks noGrp="1"/>
          </p:cNvSpPr>
          <p:nvPr>
            <p:ph type="pic" sz="quarter" idx="4294967295"/>
          </p:nvPr>
        </p:nvSpPr>
        <p:spPr>
          <a:xfrm>
            <a:off x="7708392" y="1828800"/>
            <a:ext cx="1737360" cy="1600200"/>
          </a:xfrm>
        </p:spPr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rPr lang="ru-RU" sz="2000" b="1">
                <a:solidFill>
                  <a:srgbClr val="FFFFFF"/>
                </a:solidFill>
              </a:rPr>
              <a:t>Команда</a:t>
            </a:r>
            <a:endParaRPr lang="ru-RU" sz="2000" b="1">
              <a:solidFill>
                <a:srgbClr val="FFFFFF"/>
              </a:solidFill>
            </a:endParaRPr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27"/>
          </p:nvPr>
        </p:nvSpPr>
        <p:spPr>
          <a:xfrm>
            <a:off x="1645920" y="4206240"/>
            <a:ext cx="3931920" cy="1920240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sz="1200" b="1" dirty="0">
              <a:solidFill>
                <a:srgbClr val="1C1D22"/>
              </a:solidFill>
            </a:endParaRP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b="1" dirty="0">
                <a:solidFill>
                  <a:srgbClr val="1C1D22"/>
                </a:solidFill>
              </a:rPr>
              <a:t>Роль: Разработчик</a:t>
            </a:r>
            <a:endParaRPr lang="ru-RU" sz="1200" dirty="0">
              <a:solidFill>
                <a:srgbClr val="1C1D22"/>
              </a:solidFill>
            </a:endParaRP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b="1" dirty="0">
                <a:solidFill>
                  <a:srgbClr val="1C1D22"/>
                </a:solidFill>
              </a:rPr>
              <a:t>Telegram: </a:t>
            </a:r>
            <a:r>
              <a:rPr lang="en-US" sz="1200" b="1" dirty="0">
                <a:solidFill>
                  <a:srgbClr val="1C1D22"/>
                </a:solidFill>
              </a:rPr>
              <a:t>@Mi5tRXD</a:t>
            </a:r>
            <a:endParaRPr lang="ru-RU" sz="1200" dirty="0">
              <a:solidFill>
                <a:srgbClr val="1C1D22"/>
              </a:solidFill>
            </a:endParaRP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b="1" dirty="0">
                <a:solidFill>
                  <a:srgbClr val="1C1D22"/>
                </a:solidFill>
              </a:rPr>
              <a:t>Телефон: </a:t>
            </a:r>
            <a:r>
              <a:rPr lang="en-US" altLang="ru-RU" sz="1200" b="1" dirty="0">
                <a:solidFill>
                  <a:srgbClr val="1C1D22"/>
                </a:solidFill>
              </a:rPr>
              <a:t>+79954322767</a:t>
            </a:r>
            <a:endParaRPr lang="ru-RU" sz="1200" dirty="0">
              <a:solidFill>
                <a:srgbClr val="1C1D22"/>
              </a:solidFill>
            </a:endParaRP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b="1" dirty="0">
                <a:solidFill>
                  <a:srgbClr val="1C1D22"/>
                </a:solidFill>
              </a:rPr>
              <a:t>Учёба / работа: МИЭТ</a:t>
            </a:r>
            <a:r>
              <a:rPr lang="en-US" altLang="ru-RU" sz="1200" b="1" dirty="0">
                <a:solidFill>
                  <a:srgbClr val="1C1D22"/>
                </a:solidFill>
              </a:rPr>
              <a:t>(</a:t>
            </a:r>
            <a:r>
              <a:rPr lang="ru-RU" altLang="ru-RU" sz="1200" b="1" dirty="0">
                <a:solidFill>
                  <a:srgbClr val="1C1D22"/>
                </a:solidFill>
              </a:rPr>
              <a:t>Прикладная математика)</a:t>
            </a:r>
            <a:r>
              <a:rPr lang="en-US" sz="1200" b="1" dirty="0">
                <a:solidFill>
                  <a:srgbClr val="1C1D22"/>
                </a:solidFill>
              </a:rPr>
              <a:t>/</a:t>
            </a:r>
            <a:r>
              <a:rPr lang="ru-RU" altLang="en-US" sz="1200" b="1" dirty="0">
                <a:solidFill>
                  <a:srgbClr val="1C1D22"/>
                </a:solidFill>
              </a:rPr>
              <a:t>Фриланс</a:t>
            </a:r>
            <a:endParaRPr lang="ru-RU" altLang="en-US" sz="1200" b="1" dirty="0">
              <a:solidFill>
                <a:srgbClr val="1C1D22"/>
              </a:solidFill>
            </a:endParaRPr>
          </a:p>
        </p:txBody>
      </p:sp>
      <p:sp>
        <p:nvSpPr>
          <p:cNvPr id="15" name="Текст 8"/>
          <p:cNvSpPr txBox="1"/>
          <p:nvPr/>
        </p:nvSpPr>
        <p:spPr>
          <a:xfrm>
            <a:off x="1675130" y="3870960"/>
            <a:ext cx="3931920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780" indent="-144780" algn="l" defTabSz="578485" rtl="0" eaLnBrk="1" latinLnBrk="0" hangingPunct="1">
              <a:lnSpc>
                <a:spcPct val="90000"/>
              </a:lnSpc>
              <a:spcBef>
                <a:spcPts val="63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34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27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26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9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0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38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0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31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87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43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99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800" b="1" dirty="0">
                <a:solidFill>
                  <a:srgbClr val="520978"/>
                </a:solidFill>
              </a:rPr>
              <a:t>Ким Анатолий</a:t>
            </a:r>
            <a:endParaRPr lang="ru-RU" sz="1800" b="1" dirty="0">
              <a:solidFill>
                <a:srgbClr val="520978"/>
              </a:solidFill>
            </a:endParaRPr>
          </a:p>
        </p:txBody>
      </p:sp>
      <p:pic>
        <p:nvPicPr>
          <p:cNvPr id="4" name="图片 3" descr="photo_5321209204527798967_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4940" y="1703070"/>
            <a:ext cx="1470025" cy="1930400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3"/>
          <a:stretch>
            <a:fillRect/>
          </a:stretch>
        </p:blipFill>
        <p:spPr>
          <a:xfrm>
            <a:off x="7538720" y="1630045"/>
            <a:ext cx="1971040" cy="2076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/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rPr lang="ru-RU" sz="2000" b="1">
                <a:solidFill>
                  <a:srgbClr val="FFFFFF"/>
                </a:solidFill>
              </a:rPr>
              <a:t>Как мы работали</a:t>
            </a:r>
            <a:endParaRPr lang="ru-RU" sz="2000" b="1">
              <a:solidFill>
                <a:srgbClr val="FFFFFF"/>
              </a:solidFill>
            </a:endParaRPr>
          </a:p>
        </p:txBody>
      </p:sp>
      <p:sp>
        <p:nvSpPr>
          <p:cNvPr id="37" name="Текст 8"/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1100" dirty="0">
                <a:solidFill>
                  <a:srgbClr val="1C1D22"/>
                </a:solidFill>
              </a:rPr>
              <a:t>Мы учимся на первом курсе в МИЭТ и МичГАУ и оба подрабатываем на фрилансе. Нас двое, поэтому сразу разделили работу: один собирал сам сервис, второй — аналитику и проверку качества. Каждый вечер сводили всё вместе и решали, что делать дальше.</a:t>
            </a:r>
            <a:endParaRPr lang="ru-RU" sz="1100" dirty="0">
              <a:solidFill>
                <a:srgbClr val="1C1D22"/>
              </a:solidFill>
            </a:endParaRPr>
          </a:p>
        </p:txBody>
      </p:sp>
      <p:sp>
        <p:nvSpPr>
          <p:cNvPr id="38" name="Текст 8"/>
          <p:cNvSpPr txBox="1"/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780" indent="-144780" algn="l" defTabSz="578485" rtl="0" eaLnBrk="1" latinLnBrk="0" hangingPunct="1">
              <a:lnSpc>
                <a:spcPct val="90000"/>
              </a:lnSpc>
              <a:spcBef>
                <a:spcPts val="63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34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27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26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9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0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38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0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31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87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43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99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40" name="Текст 8"/>
          <p:cNvSpPr txBox="1"/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780" indent="-144780" algn="l" defTabSz="578485" rtl="0" eaLnBrk="1" latinLnBrk="0" hangingPunct="1">
              <a:lnSpc>
                <a:spcPct val="90000"/>
              </a:lnSpc>
              <a:spcBef>
                <a:spcPts val="63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34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27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26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9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0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38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0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31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87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43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99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100" dirty="0">
                <a:solidFill>
                  <a:srgbClr val="1C1D22"/>
                </a:solidFill>
              </a:rPr>
              <a:t>Самое сложное — проверить качество без реальных данных. Мы сгенерировали тысячу «кандидатов» с заранее известным уровнем и прогнали их через настоящий код. Второй вызов — утечка ответов: пришлось сделать задания, которые каждый раз собираются заново.</a:t>
            </a:r>
            <a:endParaRPr lang="ru-RU" sz="1100" dirty="0">
              <a:solidFill>
                <a:srgbClr val="1C1D22"/>
              </a:solidFill>
            </a:endParaRPr>
          </a:p>
        </p:txBody>
      </p:sp>
      <p:sp>
        <p:nvSpPr>
          <p:cNvPr id="41" name="Текст 8"/>
          <p:cNvSpPr txBox="1"/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780" indent="-144780" algn="l" defTabSz="578485" rtl="0" eaLnBrk="1" latinLnBrk="0" hangingPunct="1">
              <a:lnSpc>
                <a:spcPct val="90000"/>
              </a:lnSpc>
              <a:spcBef>
                <a:spcPts val="63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34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27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26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9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0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38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0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31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87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43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99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43" name="Текст 8"/>
          <p:cNvSpPr txBox="1"/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780" indent="-144780" algn="l" defTabSz="578485" rtl="0" eaLnBrk="1" latinLnBrk="0" hangingPunct="1">
              <a:lnSpc>
                <a:spcPct val="90000"/>
              </a:lnSpc>
              <a:spcBef>
                <a:spcPts val="63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34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27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26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9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0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38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0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31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87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43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99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100" dirty="0">
                <a:solidFill>
                  <a:srgbClr val="1C1D22"/>
                </a:solidFill>
              </a:rPr>
              <a:t>Нам понравилось, что задача про живую боль. Кандидаты устали откликаться в пустоту, работодатели — разбирать сотни одинаковых резюме. А у ФСП есть то, чего нет у обычных сайтов с вакансиями: подтверждённые результаты соревнований.</a:t>
            </a:r>
            <a:endParaRPr lang="ru-RU" sz="1100" dirty="0">
              <a:solidFill>
                <a:srgbClr val="1C1D22"/>
              </a:solidFill>
            </a:endParaRPr>
          </a:p>
        </p:txBody>
      </p:sp>
      <p:sp>
        <p:nvSpPr>
          <p:cNvPr id="44" name="Текст 8"/>
          <p:cNvSpPr txBox="1"/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780" indent="-144780" algn="l" defTabSz="578485" rtl="0" eaLnBrk="1" latinLnBrk="0" hangingPunct="1">
              <a:lnSpc>
                <a:spcPct val="90000"/>
              </a:lnSpc>
              <a:spcBef>
                <a:spcPts val="63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34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27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26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9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0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38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0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31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87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43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99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  <a:endParaRPr lang="ru-RU" b="1" dirty="0">
              <a:solidFill>
                <a:schemeClr val="accent5"/>
              </a:solidFill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/>
          <p:cNvCxnSpPr/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/>
          <p:cNvSpPr txBox="1"/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780" indent="-144780" algn="l" defTabSz="578485" rtl="0" eaLnBrk="1" latinLnBrk="0" hangingPunct="1">
              <a:lnSpc>
                <a:spcPct val="90000"/>
              </a:lnSpc>
              <a:spcBef>
                <a:spcPts val="63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34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27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26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9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0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38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0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31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87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43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99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1" name="Текст 8"/>
          <p:cNvSpPr txBox="1"/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780" indent="-144780" algn="l" defTabSz="578485" rtl="0" eaLnBrk="1" latinLnBrk="0" hangingPunct="1">
              <a:lnSpc>
                <a:spcPct val="90000"/>
              </a:lnSpc>
              <a:spcBef>
                <a:spcPts val="63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34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27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26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9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0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38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0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31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87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43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99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2" name="Текст 8"/>
          <p:cNvSpPr txBox="1"/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780" indent="-144780" algn="l" defTabSz="578485" rtl="0" eaLnBrk="1" latinLnBrk="0" hangingPunct="1">
              <a:lnSpc>
                <a:spcPct val="90000"/>
              </a:lnSpc>
              <a:spcBef>
                <a:spcPts val="63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34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27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26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9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0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385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905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31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87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43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990" indent="-144780" algn="l" defTabSz="578485" rtl="0" eaLnBrk="1" latinLnBrk="0" hangingPunct="1">
              <a:lnSpc>
                <a:spcPct val="90000"/>
              </a:lnSpc>
              <a:spcBef>
                <a:spcPts val="315"/>
              </a:spcBef>
              <a:buFont typeface="Arial" panose="020B0604020202020204" pitchFamily="34" charset="0"/>
              <a:buChar char="•"/>
              <a:defRPr sz="11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  <a:endParaRPr lang="ru-RU" b="1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/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/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/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r>
              <a:rPr lang="ru-RU" sz="1300" dirty="0">
                <a:solidFill>
                  <a:srgbClr val="1C1D22"/>
                </a:solidFill>
              </a:rPr>
              <a:t>Сайт для кандидата и работодателя, сервер на Python и база PostgreSQL — запускается одной командой Docker</a:t>
            </a:r>
            <a:endParaRPr lang="ru-RU" sz="1300" dirty="0">
              <a:solidFill>
                <a:srgbClr val="1C1D22"/>
              </a:solidFill>
            </a:endParaRPr>
          </a:p>
          <a:p>
            <a:r>
              <a:rPr lang="ru-RU" sz="1300" dirty="0">
                <a:solidFill>
                  <a:srgbClr val="1C1D22"/>
                </a:solidFill>
              </a:rPr>
              <a:t>Адаптивный тест: 8 специализаций, 6 ступеней грейда, до 20 минут</a:t>
            </a:r>
            <a:endParaRPr lang="ru-RU" sz="1300" dirty="0">
              <a:solidFill>
                <a:srgbClr val="1C1D22"/>
              </a:solidFill>
            </a:endParaRPr>
          </a:p>
          <a:p>
            <a:r>
              <a:rPr lang="ru-RU" sz="1300" dirty="0">
                <a:solidFill>
                  <a:srgbClr val="1C1D22"/>
                </a:solidFill>
              </a:rPr>
              <a:t>Подборка объясняет каждый процент: какие навыки подтверждены и чего не хватает</a:t>
            </a:r>
            <a:endParaRPr lang="ru-RU" sz="1300" dirty="0">
              <a:solidFill>
                <a:srgbClr val="1C1D22"/>
              </a:solidFill>
            </a:endParaRPr>
          </a:p>
          <a:p>
            <a:r>
              <a:rPr lang="ru-RU" sz="1300" dirty="0">
                <a:solidFill>
                  <a:srgbClr val="1C1D22"/>
                </a:solidFill>
              </a:rPr>
              <a:t>Простые модели машинного обучения подсказывают специализацию и грейд по резюме</a:t>
            </a:r>
            <a:endParaRPr lang="ru-RU" sz="1300" dirty="0">
              <a:solidFill>
                <a:srgbClr val="1C1D22"/>
              </a:solidFill>
            </a:endParaRPr>
          </a:p>
          <a:p>
            <a:r>
              <a:rPr lang="ru-RU" sz="1300" dirty="0">
                <a:solidFill>
                  <a:srgbClr val="1C1D22"/>
                </a:solidFill>
              </a:rPr>
              <a:t>Вход через ФСП ID по тому же протоколу, что у Keycloak, — пока на имитации</a:t>
            </a:r>
            <a:endParaRPr lang="ru-RU" sz="1300" dirty="0">
              <a:solidFill>
                <a:srgbClr val="1C1D22"/>
              </a:solidFill>
            </a:endParaRP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r>
              <a:rPr lang="ru-RU" sz="1300" dirty="0">
                <a:solidFill>
                  <a:srgbClr val="1C1D22"/>
                </a:solidFill>
              </a:rPr>
              <a:t>Кандидату бесплатно: один раз пройти тест — дальше пишут работодатели</a:t>
            </a:r>
            <a:endParaRPr lang="ru-RU" sz="1300" dirty="0">
              <a:solidFill>
                <a:srgbClr val="1C1D22"/>
              </a:solidFill>
            </a:endParaRPr>
          </a:p>
          <a:p>
            <a:r>
              <a:rPr lang="ru-RU" sz="1300" dirty="0">
                <a:solidFill>
                  <a:srgbClr val="1C1D22"/>
                </a:solidFill>
              </a:rPr>
              <a:t>Работодателю — короткий список людей с проверенными навыками вместо сотен откликов</a:t>
            </a:r>
            <a:endParaRPr lang="ru-RU" sz="1300" dirty="0">
              <a:solidFill>
                <a:srgbClr val="1C1D22"/>
              </a:solidFill>
            </a:endParaRPr>
          </a:p>
          <a:p>
            <a:r>
              <a:rPr lang="ru-RU" sz="1300" dirty="0">
                <a:solidFill>
                  <a:srgbClr val="1C1D22"/>
                </a:solidFill>
              </a:rPr>
              <a:t>Для ФСП — способ превратить соревнования участников в карьерный плюс</a:t>
            </a:r>
            <a:endParaRPr lang="ru-RU" sz="1300" dirty="0">
              <a:solidFill>
                <a:srgbClr val="1C1D22"/>
              </a:solidFill>
            </a:endParaRPr>
          </a:p>
          <a:p>
            <a:r>
              <a:rPr lang="ru-RU" sz="1300" dirty="0">
                <a:solidFill>
                  <a:srgbClr val="1C1D22"/>
                </a:solidFill>
              </a:rPr>
              <a:t>Дальше: подключить настоящий ФСП ID, добавить задачи с кодом, запустить пилот с компаниями</a:t>
            </a:r>
            <a:endParaRPr lang="ru-RU" sz="1300" dirty="0">
              <a:solidFill>
                <a:srgbClr val="1C1D22"/>
              </a:solidFill>
            </a:endParaRPr>
          </a:p>
        </p:txBody>
      </p:sp>
      <p:sp>
        <p:nvSpPr>
          <p:cNvPr id="14" name="Заголовок 13"/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  <a:endParaRPr lang="ru-RU" dirty="0"/>
          </a:p>
        </p:txBody>
      </p:sp>
      <p:sp>
        <p:nvSpPr>
          <p:cNvPr id="15" name="Текст 14"/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  <a:endParaRPr lang="ru-RU" sz="2000" b="1" dirty="0">
              <a:solidFill>
                <a:schemeClr val="accent5"/>
              </a:solidFill>
            </a:endParaRPr>
          </a:p>
        </p:txBody>
      </p:sp>
      <p:sp>
        <p:nvSpPr>
          <p:cNvPr id="17" name="Текст 16"/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  <a:endParaRPr lang="ru-RU" sz="2000" b="1" dirty="0">
              <a:solidFill>
                <a:schemeClr val="accent5"/>
              </a:solidFill>
            </a:endParaRP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/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/>
          <p:cNvSpPr/>
          <p:nvPr/>
        </p:nvSpPr>
        <p:spPr>
          <a:xfrm>
            <a:off x="346075" y="324562"/>
            <a:ext cx="518922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/>
          <p:cNvSpPr/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26"/>
          </p:nvPr>
        </p:nvSpPr>
        <p:spPr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sz="1400" b="1">
                <a:solidFill>
                  <a:srgbClr val="1C1D22"/>
                </a:solidFill>
              </a:rPr>
              <a:t>Кандидат. </a:t>
            </a:r>
            <a:r>
              <a:rPr lang="ru-RU" sz="1400">
                <a:solidFill>
                  <a:srgbClr val="1C1D22"/>
                </a:solidFill>
              </a:rPr>
              <a:t>Отвечает на опрос, сам выбирает грейд и проходит тест до 20 минут. Получает категорию, например «Backend · Middle+». Результаты ФСП подтягиваются сами.</a:t>
            </a:r>
            <a:endParaRPr lang="ru-RU" sz="1400">
              <a:solidFill>
                <a:srgbClr val="1C1D22"/>
              </a:solidFill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31"/>
          </p:nvPr>
        </p:nvSpPr>
        <p:spPr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sz="1400" b="1">
                <a:solidFill>
                  <a:srgbClr val="1C1D22"/>
                </a:solidFill>
              </a:rPr>
              <a:t>Работодатель. </a:t>
            </a:r>
            <a:r>
              <a:rPr lang="ru-RU" sz="1400">
                <a:solidFill>
                  <a:srgbClr val="1C1D22"/>
                </a:solidFill>
              </a:rPr>
              <a:t>Пишет, кого ищет, обычными словами. Видит подходящие категории, открывает нужную и смотрит людей с объяснением, почему они подходят.</a:t>
            </a:r>
            <a:endParaRPr lang="ru-RU" sz="1400">
              <a:solidFill>
                <a:srgbClr val="1C1D22"/>
              </a:solidFill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2"/>
          </p:nvPr>
        </p:nvSpPr>
        <p:spPr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sz="1400" b="1">
                <a:solidFill>
                  <a:srgbClr val="1C1D22"/>
                </a:solidFill>
              </a:rPr>
              <a:t>Знакомство. </a:t>
            </a:r>
            <a:r>
              <a:rPr lang="ru-RU" sz="1400">
                <a:solidFill>
                  <a:srgbClr val="1C1D22"/>
                </a:solidFill>
              </a:rPr>
              <a:t>Приглашение сразу с зарплатой. Можно переписываться, а контакты открываются, только если кандидат согласился. Дальше оффер и выход на работу.</a:t>
            </a:r>
            <a:endParaRPr lang="ru-RU" sz="1400">
              <a:solidFill>
                <a:srgbClr val="1C1D22"/>
              </a:solidFill>
            </a:endParaRPr>
          </a:p>
        </p:txBody>
      </p:sp>
      <p:cxnSp>
        <p:nvCxnSpPr>
          <p:cNvPr id="58" name="Google Shape;2799;p94"/>
          <p:cNvCxnSpPr/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oogle Shape;2829;p94"/>
          <p:cNvGrpSpPr/>
          <p:nvPr/>
        </p:nvGrpSpPr>
        <p:grpSpPr>
          <a:xfrm>
            <a:off x="1899087" y="1753233"/>
            <a:ext cx="738531" cy="687909"/>
            <a:chOff x="3385734" y="2233242"/>
            <a:chExt cx="340504" cy="319542"/>
          </a:xfrm>
        </p:grpSpPr>
        <p:sp>
          <p:nvSpPr>
            <p:cNvPr id="63" name="Google Shape;2830;p94"/>
            <p:cNvSpPr/>
            <p:nvPr/>
          </p:nvSpPr>
          <p:spPr>
            <a:xfrm>
              <a:off x="3385734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2831;p94"/>
            <p:cNvSpPr/>
            <p:nvPr/>
          </p:nvSpPr>
          <p:spPr>
            <a:xfrm>
              <a:off x="3420989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2832;p94"/>
            <p:cNvSpPr/>
            <p:nvPr/>
          </p:nvSpPr>
          <p:spPr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2833;p94"/>
            <p:cNvSpPr/>
            <p:nvPr/>
          </p:nvSpPr>
          <p:spPr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2834;p94"/>
            <p:cNvSpPr/>
            <p:nvPr/>
          </p:nvSpPr>
          <p:spPr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2835;p94"/>
            <p:cNvSpPr/>
            <p:nvPr/>
          </p:nvSpPr>
          <p:spPr>
            <a:xfrm>
              <a:off x="3420989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2836;p94"/>
            <p:cNvSpPr/>
            <p:nvPr/>
          </p:nvSpPr>
          <p:spPr>
            <a:xfrm>
              <a:off x="3420989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2837;p94"/>
            <p:cNvSpPr/>
            <p:nvPr/>
          </p:nvSpPr>
          <p:spPr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2838;p94"/>
            <p:cNvSpPr/>
            <p:nvPr/>
          </p:nvSpPr>
          <p:spPr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2839;p94"/>
            <p:cNvSpPr/>
            <p:nvPr/>
          </p:nvSpPr>
          <p:spPr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2840;p94"/>
            <p:cNvSpPr/>
            <p:nvPr/>
          </p:nvSpPr>
          <p:spPr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2841;p94"/>
            <p:cNvSpPr/>
            <p:nvPr/>
          </p:nvSpPr>
          <p:spPr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2842;p94"/>
            <p:cNvSpPr/>
            <p:nvPr/>
          </p:nvSpPr>
          <p:spPr>
            <a:xfrm>
              <a:off x="3646108" y="2379063"/>
              <a:ext cx="19276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2843;p94"/>
            <p:cNvSpPr/>
            <p:nvPr/>
          </p:nvSpPr>
          <p:spPr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0" name="Google Shape;2818;p94"/>
          <p:cNvGrpSpPr/>
          <p:nvPr/>
        </p:nvGrpSpPr>
        <p:grpSpPr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/>
            <p:cNvSpPr/>
            <p:nvPr/>
          </p:nvSpPr>
          <p:spPr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2820;p94"/>
            <p:cNvSpPr/>
            <p:nvPr/>
          </p:nvSpPr>
          <p:spPr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2821;p94"/>
            <p:cNvSpPr/>
            <p:nvPr/>
          </p:nvSpPr>
          <p:spPr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2822;p94"/>
            <p:cNvSpPr/>
            <p:nvPr/>
          </p:nvSpPr>
          <p:spPr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2823;p94"/>
            <p:cNvSpPr/>
            <p:nvPr/>
          </p:nvSpPr>
          <p:spPr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2824;p94"/>
            <p:cNvSpPr/>
            <p:nvPr/>
          </p:nvSpPr>
          <p:spPr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2825;p94"/>
            <p:cNvSpPr/>
            <p:nvPr/>
          </p:nvSpPr>
          <p:spPr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2826;p94"/>
            <p:cNvSpPr/>
            <p:nvPr/>
          </p:nvSpPr>
          <p:spPr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2827;p94"/>
            <p:cNvSpPr/>
            <p:nvPr/>
          </p:nvSpPr>
          <p:spPr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4" name="Google Shape;2805;p94"/>
          <p:cNvGrpSpPr/>
          <p:nvPr/>
        </p:nvGrpSpPr>
        <p:grpSpPr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/>
            <p:cNvSpPr/>
            <p:nvPr/>
          </p:nvSpPr>
          <p:spPr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2807;p94"/>
            <p:cNvSpPr/>
            <p:nvPr/>
          </p:nvSpPr>
          <p:spPr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2808;p94"/>
            <p:cNvSpPr/>
            <p:nvPr/>
          </p:nvSpPr>
          <p:spPr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2809;p94"/>
            <p:cNvSpPr/>
            <p:nvPr/>
          </p:nvSpPr>
          <p:spPr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2810;p94"/>
            <p:cNvSpPr/>
            <p:nvPr/>
          </p:nvSpPr>
          <p:spPr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2811;p94"/>
            <p:cNvSpPr/>
            <p:nvPr/>
          </p:nvSpPr>
          <p:spPr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2812;p94"/>
            <p:cNvSpPr/>
            <p:nvPr/>
          </p:nvSpPr>
          <p:spPr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2813;p94"/>
            <p:cNvSpPr/>
            <p:nvPr/>
          </p:nvSpPr>
          <p:spPr>
            <a:xfrm>
              <a:off x="4789296" y="2294680"/>
              <a:ext cx="168267" cy="172069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2814;p94"/>
            <p:cNvSpPr/>
            <p:nvPr/>
          </p:nvSpPr>
          <p:spPr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2815;p94"/>
            <p:cNvSpPr/>
            <p:nvPr/>
          </p:nvSpPr>
          <p:spPr>
            <a:xfrm>
              <a:off x="4883051" y="2382744"/>
              <a:ext cx="24053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2816;p94"/>
            <p:cNvSpPr/>
            <p:nvPr/>
          </p:nvSpPr>
          <p:spPr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" name="Скругленный прямоугольник 17"/>
          <p:cNvSpPr/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Заголовок 13"/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 sz="2000" b="1">
                <a:solidFill>
                  <a:srgbClr val="FFFFFF"/>
                </a:solidFill>
              </a:rPr>
              <a:t>Работодатель приходит сам</a:t>
            </a:r>
            <a:endParaRPr lang="ru-RU" sz="2000" b="1">
              <a:solidFill>
                <a:srgbClr val="FFFFFF"/>
              </a:solidFill>
            </a:endParaRPr>
          </a:p>
        </p:txBody>
      </p:sp>
      <p:cxnSp>
        <p:nvCxnSpPr>
          <p:cNvPr id="14" name="Google Shape;2799;p94"/>
          <p:cNvCxnSpPr/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/>
          <p:cNvSpPr/>
          <p:nvPr/>
        </p:nvSpPr>
        <p:spPr>
          <a:xfrm>
            <a:off x="346075" y="324562"/>
            <a:ext cx="5939027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Номер слайда 1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/>
          <p:cNvSpPr>
            <a:spLocks noGrp="1"/>
          </p:cNvSpPr>
          <p:nvPr>
            <p:ph type="body" sz="quarter" idx="26"/>
          </p:nvPr>
        </p:nvSpPr>
        <p:spPr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sz="1400" b="1">
                <a:solidFill>
                  <a:srgbClr val="FF0053"/>
                </a:solidFill>
              </a:rPr>
              <a:t>Регистрация</a:t>
            </a:r>
            <a:endParaRPr lang="ru-RU" sz="1400" b="1">
              <a:solidFill>
                <a:srgbClr val="FF0053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27"/>
          </p:nvPr>
        </p:nvSpPr>
        <p:spPr>
          <a:xfrm>
            <a:off x="346075" y="1814077"/>
            <a:ext cx="2526079" cy="1120685"/>
          </a:xfrm>
        </p:spPr>
        <p:txBody>
          <a:bodyPr/>
          <a:lstStyle/>
          <a:p>
            <a:r>
              <a:rPr lang="ru-RU" sz="1200">
                <a:solidFill>
                  <a:srgbClr val="1C1D22"/>
                </a:solidFill>
              </a:rPr>
              <a:t>По почте или через ФСП ID</a:t>
            </a:r>
            <a:endParaRPr lang="ru-RU" sz="1200">
              <a:solidFill>
                <a:srgbClr val="1C1D22"/>
              </a:solidFill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28"/>
          </p:nvPr>
        </p:nvSpPr>
        <p:spPr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sz="1400" b="1">
                <a:solidFill>
                  <a:srgbClr val="FF0053"/>
                </a:solidFill>
              </a:rPr>
              <a:t>Опрос и тест</a:t>
            </a:r>
            <a:endParaRPr lang="ru-RU" sz="1400" b="1">
              <a:solidFill>
                <a:srgbClr val="FF0053"/>
              </a:solidFill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29"/>
          </p:nvPr>
        </p:nvSpPr>
        <p:spPr>
          <a:xfrm>
            <a:off x="4832960" y="1814077"/>
            <a:ext cx="2526079" cy="1120685"/>
          </a:xfrm>
        </p:spPr>
        <p:txBody>
          <a:bodyPr/>
          <a:lstStyle/>
          <a:p>
            <a:r>
              <a:rPr lang="ru-RU" sz="1200">
                <a:solidFill>
                  <a:srgbClr val="1C1D22"/>
                </a:solidFill>
              </a:rPr>
              <a:t>Грейд выбирает кандидат, тест подтверждает</a:t>
            </a:r>
            <a:endParaRPr lang="ru-RU" sz="1200">
              <a:solidFill>
                <a:srgbClr val="1C1D22"/>
              </a:solidFill>
            </a:endParaRP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30"/>
          </p:nvPr>
        </p:nvSpPr>
        <p:spPr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sz="1400" b="1">
                <a:solidFill>
                  <a:srgbClr val="FF0053"/>
                </a:solidFill>
              </a:rPr>
              <a:t>Категория</a:t>
            </a:r>
            <a:endParaRPr lang="ru-RU" sz="1400" b="1">
              <a:solidFill>
                <a:srgbClr val="FF0053"/>
              </a:solidFill>
            </a:endParaRP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31"/>
          </p:nvPr>
        </p:nvSpPr>
        <p:spPr>
          <a:xfrm>
            <a:off x="9330862" y="1814077"/>
            <a:ext cx="2526079" cy="1120685"/>
          </a:xfrm>
        </p:spPr>
        <p:txBody>
          <a:bodyPr/>
          <a:lstStyle/>
          <a:p>
            <a:r>
              <a:rPr lang="ru-RU" sz="1200">
                <a:solidFill>
                  <a:srgbClr val="1C1D22"/>
                </a:solidFill>
              </a:rPr>
              <a:t>Её видят работодатели</a:t>
            </a:r>
            <a:endParaRPr lang="ru-RU" sz="1200">
              <a:solidFill>
                <a:srgbClr val="1C1D22"/>
              </a:solidFill>
            </a:endParaRP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32"/>
          </p:nvPr>
        </p:nvSpPr>
        <p:spPr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sz="1400" b="1">
                <a:solidFill>
                  <a:srgbClr val="FF0053"/>
                </a:solidFill>
              </a:rPr>
              <a:t>Подборка</a:t>
            </a:r>
            <a:endParaRPr lang="ru-RU" sz="1400" b="1">
              <a:solidFill>
                <a:srgbClr val="FF0053"/>
              </a:solidFill>
            </a:endParaRPr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33"/>
          </p:nvPr>
        </p:nvSpPr>
        <p:spPr>
          <a:xfrm>
            <a:off x="2593517" y="5181340"/>
            <a:ext cx="2526079" cy="1120685"/>
          </a:xfrm>
        </p:spPr>
        <p:txBody>
          <a:bodyPr/>
          <a:lstStyle/>
          <a:p>
            <a:r>
              <a:rPr lang="ru-RU" sz="1200">
                <a:solidFill>
                  <a:srgbClr val="1C1D22"/>
                </a:solidFill>
              </a:rPr>
              <a:t>Сначала категории, потом люди</a:t>
            </a:r>
            <a:endParaRPr lang="ru-RU" sz="1200">
              <a:solidFill>
                <a:srgbClr val="1C1D22"/>
              </a:solidFill>
            </a:endParaRPr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34"/>
          </p:nvPr>
        </p:nvSpPr>
        <p:spPr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sz="1400" b="1">
                <a:solidFill>
                  <a:srgbClr val="FF0053"/>
                </a:solidFill>
              </a:rPr>
              <a:t>Приглашение</a:t>
            </a:r>
            <a:endParaRPr lang="ru-RU" sz="1400" b="1">
              <a:solidFill>
                <a:srgbClr val="FF0053"/>
              </a:solidFill>
            </a:endParaRPr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35"/>
          </p:nvPr>
        </p:nvSpPr>
        <p:spPr>
          <a:xfrm>
            <a:off x="7080402" y="5181340"/>
            <a:ext cx="2526079" cy="1120685"/>
          </a:xfrm>
        </p:spPr>
        <p:txBody>
          <a:bodyPr/>
          <a:lstStyle/>
          <a:p>
            <a:r>
              <a:rPr lang="ru-RU" sz="1200">
                <a:solidFill>
                  <a:srgbClr val="1C1D22"/>
                </a:solidFill>
              </a:rPr>
              <a:t>Зарплата, переписка, контакты</a:t>
            </a:r>
            <a:endParaRPr lang="ru-RU" sz="1200">
              <a:solidFill>
                <a:srgbClr val="1C1D22"/>
              </a:solidFill>
            </a:endParaRPr>
          </a:p>
        </p:txBody>
      </p:sp>
      <p:cxnSp>
        <p:nvCxnSpPr>
          <p:cNvPr id="34" name="Прямая соединительная линия 33"/>
          <p:cNvCxnSpPr/>
          <p:nvPr/>
        </p:nvCxn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/>
          <p:nvPr/>
        </p:nvCxn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/>
          <p:cNvCxnSpPr/>
          <p:nvPr/>
        </p:nvCxn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/>
          <p:nvPr/>
        </p:nvCxn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/>
          <p:nvPr/>
        </p:nvCxn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/>
          <p:nvPr/>
        </p:nvCxn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/>
          <p:cNvCxnSpPr/>
          <p:nvPr/>
        </p:nvCxn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/>
          <p:nvPr/>
        </p:nvCxn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/>
          <p:cNvCxnSpPr/>
          <p:nvPr/>
        </p:nvCxn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Скругленный прямоугольник 42"/>
          <p:cNvSpPr/>
          <p:nvPr/>
        </p:nvSpPr>
        <p:spPr>
          <a:xfrm>
            <a:off x="1191126" y="3508049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1</a:t>
            </a:r>
            <a:endParaRPr lang="ru-RU" sz="2400" b="1" dirty="0"/>
          </a:p>
        </p:txBody>
      </p:sp>
      <p:sp>
        <p:nvSpPr>
          <p:cNvPr id="44" name="Скругленный прямоугольник 43"/>
          <p:cNvSpPr/>
          <p:nvPr/>
        </p:nvSpPr>
        <p:spPr>
          <a:xfrm>
            <a:off x="3412397" y="350613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2</a:t>
            </a:r>
            <a:endParaRPr lang="ru-RU" sz="2400" b="1" dirty="0"/>
          </a:p>
        </p:txBody>
      </p:sp>
      <p:sp>
        <p:nvSpPr>
          <p:cNvPr id="45" name="Скругленный прямоугольник 44"/>
          <p:cNvSpPr/>
          <p:nvPr/>
        </p:nvSpPr>
        <p:spPr>
          <a:xfrm>
            <a:off x="5658594" y="351625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3</a:t>
            </a:r>
            <a:endParaRPr lang="ru-RU" sz="2400" b="1" dirty="0"/>
          </a:p>
        </p:txBody>
      </p:sp>
      <p:sp>
        <p:nvSpPr>
          <p:cNvPr id="53" name="Скругленный прямоугольник 52"/>
          <p:cNvSpPr/>
          <p:nvPr/>
        </p:nvSpPr>
        <p:spPr>
          <a:xfrm>
            <a:off x="7889752" y="350613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4</a:t>
            </a:r>
            <a:endParaRPr lang="ru-RU" sz="2400" b="1" dirty="0"/>
          </a:p>
        </p:txBody>
      </p:sp>
      <p:sp>
        <p:nvSpPr>
          <p:cNvPr id="54" name="Скругленный прямоугольник 53"/>
          <p:cNvSpPr/>
          <p:nvPr/>
        </p:nvSpPr>
        <p:spPr>
          <a:xfrm>
            <a:off x="10113012" y="353862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5</a:t>
            </a:r>
            <a:endParaRPr lang="ru-RU" sz="2400" b="1" dirty="0"/>
          </a:p>
        </p:txBody>
      </p:sp>
      <p:sp>
        <p:nvSpPr>
          <p:cNvPr id="15" name="Заголовок 13"/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 sz="2000" b="1">
                <a:solidFill>
                  <a:srgbClr val="FFFFFF"/>
                </a:solidFill>
              </a:rPr>
              <a:t>Путь от регистрации до оффера</a:t>
            </a:r>
            <a:endParaRPr lang="ru-RU" sz="2000" b="1">
              <a:solidFill>
                <a:srgbClr val="FFFFFF"/>
              </a:solidFill>
            </a:endParaRPr>
          </a:p>
        </p:txBody>
      </p:sp>
      <p:sp>
        <p:nvSpPr>
          <p:cNvPr id="14" name="Скругленный прямоугольник 13"/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6" name="Скругленный прямоугольник 15"/>
          <p:cNvSpPr/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/>
          <p:cNvSpPr/>
          <p:nvPr/>
        </p:nvSpPr>
        <p:spPr>
          <a:xfrm>
            <a:off x="346075" y="324562"/>
            <a:ext cx="350215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/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/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/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/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Текст 1"/>
          <p:cNvSpPr>
            <a:spLocks noGrp="1"/>
          </p:cNvSpPr>
          <p:nvPr>
            <p:ph type="body" sz="quarter" idx="37"/>
          </p:nvPr>
        </p:nvSpPr>
        <p:spPr>
          <a:xfrm>
            <a:off x="520913" y="2339783"/>
            <a:ext cx="2284071" cy="423628"/>
          </a:xfrm>
        </p:spPr>
        <p:txBody>
          <a:bodyPr/>
          <a:lstStyle/>
          <a:p>
            <a:r>
              <a:rPr lang="ru-RU" sz="1400" b="1">
                <a:solidFill>
                  <a:srgbClr val="520978"/>
                </a:solidFill>
              </a:rPr>
              <a:t>Задания-шаблоны</a:t>
            </a:r>
            <a:endParaRPr lang="ru-RU" sz="1400" b="1">
              <a:solidFill>
                <a:srgbClr val="520978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38"/>
          </p:nvPr>
        </p:nvSpPr>
        <p:spPr>
          <a:xfrm>
            <a:off x="520913" y="3128740"/>
            <a:ext cx="2284071" cy="2797928"/>
          </a:xfrm>
        </p:spPr>
        <p:txBody>
          <a:bodyPr/>
          <a:lstStyle/>
          <a:p>
            <a:r>
              <a:rPr lang="ru-RU" sz="1200">
                <a:solidFill>
                  <a:srgbClr val="1C1D22"/>
                </a:solidFill>
              </a:rPr>
              <a:t>52 шаблона. Числа, код и порядок ответов каждый раз новые, поэтому слитый ответ одному кандидату не поможет другому.</a:t>
            </a:r>
            <a:endParaRPr lang="ru-RU" sz="1200">
              <a:solidFill>
                <a:srgbClr val="1C1D22"/>
              </a:solidFill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39"/>
          </p:nvPr>
        </p:nvSpPr>
        <p:spPr>
          <a:xfrm>
            <a:off x="3457903" y="2373557"/>
            <a:ext cx="2337416" cy="403756"/>
          </a:xfrm>
        </p:spPr>
        <p:txBody>
          <a:bodyPr/>
          <a:lstStyle/>
          <a:p>
            <a:r>
              <a:rPr lang="ru-RU" sz="1400" b="1">
                <a:solidFill>
                  <a:srgbClr val="520978"/>
                </a:solidFill>
              </a:rPr>
              <a:t>Подстраивается</a:t>
            </a:r>
            <a:endParaRPr lang="ru-RU" sz="1400" b="1">
              <a:solidFill>
                <a:srgbClr val="520978"/>
              </a:solidFill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40"/>
          </p:nvPr>
        </p:nvSpPr>
        <p:spPr>
          <a:xfrm>
            <a:off x="3457903" y="3134070"/>
            <a:ext cx="2337416" cy="2797928"/>
          </a:xfrm>
        </p:spPr>
        <p:txBody>
          <a:bodyPr/>
          <a:lstStyle/>
          <a:p>
            <a:r>
              <a:rPr lang="ru-RU" sz="1200">
                <a:solidFill>
                  <a:srgbClr val="1C1D22"/>
                </a:solidFill>
              </a:rPr>
              <a:t>Справились — следующий вопрос сложнее, ошиблись — проще. Тест заканчивается, как только уровень ясен: 12–22 вопроса.</a:t>
            </a:r>
            <a:endParaRPr lang="ru-RU" sz="1200">
              <a:solidFill>
                <a:srgbClr val="1C1D22"/>
              </a:solidFill>
            </a:endParaRP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41"/>
          </p:nvPr>
        </p:nvSpPr>
        <p:spPr>
          <a:xfrm>
            <a:off x="6456363" y="2379657"/>
            <a:ext cx="2268537" cy="403913"/>
          </a:xfrm>
        </p:spPr>
        <p:txBody>
          <a:bodyPr/>
          <a:lstStyle/>
          <a:p>
            <a:r>
              <a:rPr lang="ru-RU" sz="1400" b="1">
                <a:solidFill>
                  <a:srgbClr val="520978"/>
                </a:solidFill>
              </a:rPr>
              <a:t>Честный грейд</a:t>
            </a:r>
            <a:endParaRPr lang="ru-RU" sz="1400" b="1">
              <a:solidFill>
                <a:srgbClr val="520978"/>
              </a:solidFill>
            </a:endParaRP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42"/>
          </p:nvPr>
        </p:nvSpPr>
        <p:spPr>
          <a:xfrm>
            <a:off x="6456363" y="3136604"/>
            <a:ext cx="2268537" cy="2797928"/>
          </a:xfrm>
        </p:spPr>
        <p:txBody>
          <a:bodyPr/>
          <a:lstStyle/>
          <a:p>
            <a:r>
              <a:rPr lang="ru-RU" sz="1200">
                <a:solidFill>
                  <a:srgbClr val="1C1D22"/>
                </a:solidFill>
              </a:rPr>
              <a:t>Не прошли — грейд не понижают, можно сразу сдать ступенью ниже. Сдали уверенно — предложим ступень выше. Менять грейд — раз в 90 дней.</a:t>
            </a:r>
            <a:endParaRPr lang="ru-RU" sz="1200">
              <a:solidFill>
                <a:srgbClr val="1C1D22"/>
              </a:solidFill>
            </a:endParaRP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43"/>
          </p:nvPr>
        </p:nvSpPr>
        <p:spPr>
          <a:xfrm>
            <a:off x="9407534" y="2339783"/>
            <a:ext cx="2263553" cy="423628"/>
          </a:xfrm>
        </p:spPr>
        <p:txBody>
          <a:bodyPr/>
          <a:lstStyle/>
          <a:p>
            <a:r>
              <a:rPr lang="ru-RU" sz="1400" b="1">
                <a:solidFill>
                  <a:srgbClr val="520978"/>
                </a:solidFill>
              </a:rPr>
              <a:t>Против списывания</a:t>
            </a:r>
            <a:endParaRPr lang="ru-RU" sz="1400" b="1">
              <a:solidFill>
                <a:srgbClr val="520978"/>
              </a:solidFill>
            </a:endParaRPr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44"/>
          </p:nvPr>
        </p:nvSpPr>
        <p:spPr>
          <a:xfrm>
            <a:off x="9407534" y="3128739"/>
            <a:ext cx="2263553" cy="2797928"/>
          </a:xfrm>
        </p:spPr>
        <p:txBody>
          <a:bodyPr/>
          <a:lstStyle/>
          <a:p>
            <a:r>
              <a:rPr lang="ru-RU" sz="1200">
                <a:solidFill>
                  <a:srgbClr val="1C1D22"/>
                </a:solidFill>
              </a:rPr>
              <a:t>Правильный ответ не уходит в браузер. Уходы с вкладки и копирование видны работодателю, но на грейд не влияют.</a:t>
            </a:r>
            <a:endParaRPr lang="ru-RU" sz="1200">
              <a:solidFill>
                <a:srgbClr val="1C1D22"/>
              </a:solidFill>
            </a:endParaRPr>
          </a:p>
        </p:txBody>
      </p:sp>
      <p:sp>
        <p:nvSpPr>
          <p:cNvPr id="14" name="Заголовок 13"/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 sz="2000" b="1">
                <a:solidFill>
                  <a:srgbClr val="FFFFFF"/>
                </a:solidFill>
              </a:rPr>
              <a:t>Как устроен тест</a:t>
            </a:r>
            <a:endParaRPr lang="ru-RU" sz="2000" b="1">
              <a:solidFill>
                <a:srgbClr val="FFFFFF"/>
              </a:solidFill>
            </a:endParaRPr>
          </a:p>
        </p:txBody>
      </p:sp>
      <p:sp>
        <p:nvSpPr>
          <p:cNvPr id="15" name="Текст 14"/>
          <p:cNvSpPr>
            <a:spLocks noGrp="1"/>
          </p:cNvSpPr>
          <p:nvPr>
            <p:ph type="body" sz="quarter" idx="49"/>
          </p:nvPr>
        </p:nvSpPr>
        <p:spPr>
          <a:xfrm>
            <a:off x="520913" y="1772416"/>
            <a:ext cx="771003" cy="423628"/>
          </a:xfrm>
        </p:spPr>
        <p:txBody>
          <a:bodyPr/>
          <a:lstStyle/>
          <a:p>
            <a:r>
              <a:rPr lang="ru-RU" sz="2400" b="1">
                <a:solidFill>
                  <a:srgbClr val="FF0053"/>
                </a:solidFill>
              </a:rPr>
              <a:t>01</a:t>
            </a:r>
            <a:endParaRPr lang="ru-RU" sz="2400" b="1">
              <a:solidFill>
                <a:srgbClr val="FF0053"/>
              </a:solidFill>
            </a:endParaRPr>
          </a:p>
        </p:txBody>
      </p:sp>
      <p:sp>
        <p:nvSpPr>
          <p:cNvPr id="16" name="Текст 15"/>
          <p:cNvSpPr>
            <a:spLocks noGrp="1"/>
          </p:cNvSpPr>
          <p:nvPr>
            <p:ph type="body" sz="quarter" idx="50"/>
          </p:nvPr>
        </p:nvSpPr>
        <p:spPr>
          <a:xfrm>
            <a:off x="3449944" y="1766200"/>
            <a:ext cx="771003" cy="403756"/>
          </a:xfrm>
        </p:spPr>
        <p:txBody>
          <a:bodyPr/>
          <a:lstStyle/>
          <a:p>
            <a:r>
              <a:rPr lang="ru-RU" sz="2400" b="1">
                <a:solidFill>
                  <a:srgbClr val="FF0053"/>
                </a:solidFill>
              </a:rPr>
              <a:t>02</a:t>
            </a:r>
            <a:endParaRPr lang="ru-RU" sz="2400" b="1">
              <a:solidFill>
                <a:srgbClr val="FF0053"/>
              </a:solidFill>
            </a:endParaRPr>
          </a:p>
        </p:txBody>
      </p:sp>
      <p:sp>
        <p:nvSpPr>
          <p:cNvPr id="17" name="Текст 16"/>
          <p:cNvSpPr>
            <a:spLocks noGrp="1"/>
          </p:cNvSpPr>
          <p:nvPr>
            <p:ph type="body" sz="quarter" idx="51"/>
          </p:nvPr>
        </p:nvSpPr>
        <p:spPr>
          <a:xfrm>
            <a:off x="6456363" y="1766043"/>
            <a:ext cx="771003" cy="403913"/>
          </a:xfrm>
        </p:spPr>
        <p:txBody>
          <a:bodyPr/>
          <a:lstStyle/>
          <a:p>
            <a:r>
              <a:rPr lang="ru-RU" sz="2400" b="1">
                <a:solidFill>
                  <a:srgbClr val="FF0053"/>
                </a:solidFill>
              </a:rPr>
              <a:t>03</a:t>
            </a:r>
            <a:endParaRPr lang="ru-RU" sz="2400" b="1">
              <a:solidFill>
                <a:srgbClr val="FF0053"/>
              </a:solidFill>
            </a:endParaRPr>
          </a:p>
        </p:txBody>
      </p:sp>
      <p:sp>
        <p:nvSpPr>
          <p:cNvPr id="18" name="Текст 17"/>
          <p:cNvSpPr>
            <a:spLocks noGrp="1"/>
          </p:cNvSpPr>
          <p:nvPr>
            <p:ph type="body" sz="quarter" idx="52"/>
          </p:nvPr>
        </p:nvSpPr>
        <p:spPr>
          <a:xfrm>
            <a:off x="9407534" y="1772416"/>
            <a:ext cx="771003" cy="423628"/>
          </a:xfrm>
        </p:spPr>
        <p:txBody>
          <a:bodyPr/>
          <a:lstStyle/>
          <a:p>
            <a:r>
              <a:rPr lang="ru-RU" sz="2400" b="1">
                <a:solidFill>
                  <a:srgbClr val="FF0053"/>
                </a:solidFill>
              </a:rPr>
              <a:t>04</a:t>
            </a:r>
            <a:endParaRPr lang="ru-RU" sz="2400" b="1">
              <a:solidFill>
                <a:srgbClr val="FF0053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/>
          <p:cNvSpPr/>
          <p:nvPr/>
        </p:nvSpPr>
        <p:spPr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2" name="Скругленный прямоугольник 11"/>
          <p:cNvSpPr/>
          <p:nvPr/>
        </p:nvSpPr>
        <p:spPr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/>
          <p:cNvSpPr/>
          <p:nvPr/>
        </p:nvSpPr>
        <p:spPr>
          <a:xfrm>
            <a:off x="346075" y="324562"/>
            <a:ext cx="4251959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21"/>
          </p:nvPr>
        </p:nvSpPr>
        <p:spPr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sz="2200" b="1">
                <a:solidFill>
                  <a:srgbClr val="FF0053"/>
                </a:solidFill>
              </a:rPr>
              <a:t>97.5%</a:t>
            </a:r>
            <a:endParaRPr lang="ru-RU" sz="2200" b="1">
              <a:solidFill>
                <a:srgbClr val="FF0053"/>
              </a:solidFill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8"/>
          </p:nvPr>
        </p:nvSpPr>
        <p:spPr>
          <a:xfrm>
            <a:off x="6591637" y="1649793"/>
            <a:ext cx="4790314" cy="779602"/>
          </a:xfrm>
        </p:spPr>
        <p:txBody>
          <a:bodyPr/>
          <a:lstStyle/>
          <a:p>
            <a:r>
              <a:rPr lang="ru-RU" sz="1100">
                <a:solidFill>
                  <a:srgbClr val="1C1D22"/>
                </a:solidFill>
              </a:rPr>
              <a:t>кандидатов получают грейд не дальше одной ступени от настоящего (проверили на 1200 синтетических людях)</a:t>
            </a:r>
            <a:endParaRPr lang="ru-RU" sz="1100">
              <a:solidFill>
                <a:srgbClr val="1C1D22"/>
              </a:solidFill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22"/>
          </p:nvPr>
        </p:nvSpPr>
        <p:spPr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sz="2200" b="1">
                <a:solidFill>
                  <a:srgbClr val="FF0053"/>
                </a:solidFill>
              </a:rPr>
              <a:t>79.3%</a:t>
            </a:r>
            <a:endParaRPr lang="ru-RU" sz="2200" b="1">
              <a:solidFill>
                <a:srgbClr val="FF0053"/>
              </a:solidFill>
            </a:endParaRP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23"/>
          </p:nvPr>
        </p:nvSpPr>
        <p:spPr>
          <a:xfrm>
            <a:off x="6591637" y="3515862"/>
            <a:ext cx="4790314" cy="869021"/>
          </a:xfrm>
        </p:spPr>
        <p:txBody>
          <a:bodyPr/>
          <a:lstStyle/>
          <a:p>
            <a:r>
              <a:rPr lang="ru-RU" sz="1100">
                <a:solidFill>
                  <a:srgbClr val="1C1D22"/>
                </a:solidFill>
              </a:rPr>
              <a:t>точно угадывают уровень Junior, Middle или Senior; при повторной сдаче результат стабилен</a:t>
            </a:r>
            <a:endParaRPr lang="ru-RU" sz="1100">
              <a:solidFill>
                <a:srgbClr val="1C1D22"/>
              </a:solidFill>
            </a:endParaRP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24"/>
          </p:nvPr>
        </p:nvSpPr>
        <p:spPr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sz="2200" b="1">
                <a:solidFill>
                  <a:srgbClr val="FF0053"/>
                </a:solidFill>
              </a:rPr>
              <a:t>15.7% против 100%</a:t>
            </a:r>
            <a:endParaRPr lang="ru-RU" sz="2200" b="1">
              <a:solidFill>
                <a:srgbClr val="FF0053"/>
              </a:solidFill>
            </a:endParaRP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25"/>
          </p:nvPr>
        </p:nvSpPr>
        <p:spPr>
          <a:xfrm>
            <a:off x="6591637" y="5471798"/>
            <a:ext cx="4790314" cy="848014"/>
          </a:xfrm>
        </p:spPr>
        <p:txBody>
          <a:bodyPr/>
          <a:lstStyle/>
          <a:p>
            <a:r>
              <a:rPr lang="ru-RU" sz="1100">
                <a:solidFill>
                  <a:srgbClr val="1C1D22"/>
                </a:solidFill>
              </a:rPr>
              <a:t>столько слабых кандидатов проходят на Middle, даже имея ответы 200 других людей. С обычным одинаковым тестом прошли бы все</a:t>
            </a:r>
            <a:endParaRPr lang="ru-RU" sz="1100">
              <a:solidFill>
                <a:srgbClr val="1C1D22"/>
              </a:solidFill>
            </a:endParaRPr>
          </a:p>
        </p:txBody>
      </p:sp>
      <p:graphicFrame>
        <p:nvGraphicFramePr>
          <p:cNvPr id="10" name="Диаграмма 9"/>
          <p:cNvGraphicFramePr/>
          <p:nvPr/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3" name="Заголовок 13"/>
          <p:cNvSpPr>
            <a:spLocks noGrp="1"/>
          </p:cNvSpPr>
          <p:nvPr>
            <p:ph type="title"/>
          </p:nvPr>
        </p:nvSpPr>
        <p:spPr>
          <a:xfrm>
            <a:off x="525817" y="421226"/>
            <a:ext cx="3977639" cy="376138"/>
          </a:xfrm>
        </p:spPr>
        <p:txBody>
          <a:bodyPr/>
          <a:lstStyle/>
          <a:p>
            <a:r>
              <a:rPr lang="ru-RU" sz="2000" b="1">
                <a:solidFill>
                  <a:srgbClr val="FFFFFF"/>
                </a:solidFill>
              </a:rPr>
              <a:t>Насколько тест точен</a:t>
            </a:r>
            <a:endParaRPr lang="ru-RU" sz="20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/>
          <p:cNvSpPr/>
          <p:nvPr/>
        </p:nvSpPr>
        <p:spPr>
          <a:xfrm>
            <a:off x="346075" y="324562"/>
            <a:ext cx="3877056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/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/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/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/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/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4"/>
          </p:nvPr>
        </p:nvSpPr>
        <p:spPr>
          <a:xfrm>
            <a:off x="623887" y="1732103"/>
            <a:ext cx="4734175" cy="4139307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/>
            <a:r>
              <a:rPr lang="ru-RU" sz="1100" b="1">
                <a:solidFill>
                  <a:srgbClr val="1C1D22"/>
                </a:solidFill>
              </a:rPr>
              <a:t>Сначала категория. </a:t>
            </a:r>
            <a:r>
              <a:rPr lang="ru-RU" sz="1100">
                <a:solidFill>
                  <a:srgbClr val="1C1D22"/>
                </a:solidFill>
              </a:rPr>
              <a:t>В выдачу попадают только по грейду из теста. Сначала своя категория, потом соседние.</a:t>
            </a:r>
            <a:endParaRPr lang="ru-RU" sz="1100">
              <a:solidFill>
                <a:srgbClr val="1C1D22"/>
              </a:solidFill>
            </a:endParaRPr>
          </a:p>
          <a:p>
            <a:pPr algn="l"/>
            <a:r>
              <a:rPr lang="ru-RU" sz="1100" b="1">
                <a:solidFill>
                  <a:srgbClr val="1C1D22"/>
                </a:solidFill>
              </a:rPr>
              <a:t>Потом навыки. </a:t>
            </a:r>
            <a:r>
              <a:rPr lang="ru-RU" sz="1100">
                <a:solidFill>
                  <a:srgbClr val="1C1D22"/>
                </a:solidFill>
              </a:rPr>
              <a:t>По каждому навыку из вакансии смотрим, чем он подтверждён: тестом, заданием работодателя, соревнованием ФСП или только резюме. Тест весит больше всего.</a:t>
            </a:r>
            <a:endParaRPr lang="ru-RU" sz="1100">
              <a:solidFill>
                <a:srgbClr val="1C1D22"/>
              </a:solidFill>
            </a:endParaRPr>
          </a:p>
          <a:p>
            <a:pPr algn="l"/>
            <a:r>
              <a:rPr lang="ru-RU" sz="1100" b="1">
                <a:solidFill>
                  <a:srgbClr val="1C1D22"/>
                </a:solidFill>
              </a:rPr>
              <a:t>Слабое место не прячется. </a:t>
            </a:r>
            <a:r>
              <a:rPr lang="ru-RU" sz="1100">
                <a:solidFill>
                  <a:srgbClr val="1C1D22"/>
                </a:solidFill>
              </a:rPr>
              <a:t>Если нет обязательного навыка, сильные стороны это не перекроют.</a:t>
            </a:r>
            <a:endParaRPr lang="ru-RU" sz="1100">
              <a:solidFill>
                <a:srgbClr val="1C1D22"/>
              </a:solidFill>
            </a:endParaRPr>
          </a:p>
          <a:p>
            <a:pPr algn="l"/>
            <a:r>
              <a:rPr lang="ru-RU" sz="1100" b="1">
                <a:solidFill>
                  <a:srgbClr val="1C1D22"/>
                </a:solidFill>
              </a:rPr>
              <a:t>Всё объясняем. </a:t>
            </a:r>
            <a:r>
              <a:rPr lang="ru-RU" sz="1100">
                <a:solidFill>
                  <a:srgbClr val="1C1D22"/>
                </a:solidFill>
              </a:rPr>
              <a:t>У каждого кандидата процент, разбивка по блокам и честная вероятность «подходит».</a:t>
            </a:r>
            <a:endParaRPr lang="ru-RU" sz="1100">
              <a:solidFill>
                <a:srgbClr val="1C1D22"/>
              </a:solidFill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5"/>
          </p:nvPr>
        </p:nvSpPr>
        <p:spPr>
          <a:xfrm>
            <a:off x="6172730" y="1445505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lang="ru-RU" sz="1200" b="1">
                <a:solidFill>
                  <a:srgbClr val="1C1D22"/>
                </a:solidFill>
              </a:rPr>
              <a:t>Роль. </a:t>
            </a:r>
            <a:r>
              <a:rPr lang="ru-RU" sz="1200">
                <a:solidFill>
                  <a:srgbClr val="1C1D22"/>
                </a:solidFill>
              </a:rPr>
              <a:t>своя категория или соседняя</a:t>
            </a:r>
            <a:endParaRPr lang="ru-RU" sz="1200">
              <a:solidFill>
                <a:srgbClr val="1C1D22"/>
              </a:solidFill>
            </a:endParaRP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16"/>
          </p:nvPr>
        </p:nvSpPr>
        <p:spPr>
          <a:xfrm>
            <a:off x="6172730" y="2472872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lang="ru-RU" sz="1200" b="1">
                <a:solidFill>
                  <a:srgbClr val="1C1D22"/>
                </a:solidFill>
              </a:rPr>
              <a:t>Стек. </a:t>
            </a:r>
            <a:r>
              <a:rPr lang="ru-RU" sz="1200">
                <a:solidFill>
                  <a:srgbClr val="1C1D22"/>
                </a:solidFill>
              </a:rPr>
              <a:t>закрыты ли обязательные и желательные навыки</a:t>
            </a:r>
            <a:endParaRPr lang="ru-RU" sz="1200">
              <a:solidFill>
                <a:srgbClr val="1C1D22"/>
              </a:solidFill>
            </a:endParaRP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7"/>
          </p:nvPr>
        </p:nvSpPr>
        <p:spPr>
          <a:xfrm>
            <a:off x="6172730" y="3485922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lang="ru-RU" sz="1200" b="1">
                <a:solidFill>
                  <a:srgbClr val="1C1D22"/>
                </a:solidFill>
              </a:rPr>
              <a:t>Уровень. </a:t>
            </a:r>
            <a:r>
              <a:rPr lang="ru-RU" sz="1200">
                <a:solidFill>
                  <a:srgbClr val="1C1D22"/>
                </a:solidFill>
              </a:rPr>
              <a:t>насколько уверенно сдан тест</a:t>
            </a:r>
            <a:endParaRPr lang="ru-RU" sz="1200">
              <a:solidFill>
                <a:srgbClr val="1C1D22"/>
              </a:solidFill>
            </a:endParaRP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18"/>
          </p:nvPr>
        </p:nvSpPr>
        <p:spPr>
          <a:xfrm>
            <a:off x="6172730" y="4496593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lang="ru-RU" sz="1200" b="1">
                <a:solidFill>
                  <a:srgbClr val="1C1D22"/>
                </a:solidFill>
              </a:rPr>
              <a:t>Условия. </a:t>
            </a:r>
            <a:r>
              <a:rPr lang="ru-RU" sz="1200">
                <a:solidFill>
                  <a:srgbClr val="1C1D22"/>
                </a:solidFill>
              </a:rPr>
              <a:t>зарплата, формат работы, свежесть профиля</a:t>
            </a:r>
            <a:endParaRPr lang="ru-RU" sz="1200">
              <a:solidFill>
                <a:srgbClr val="1C1D22"/>
              </a:solidFill>
            </a:endParaRPr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9"/>
          </p:nvPr>
        </p:nvSpPr>
        <p:spPr>
          <a:xfrm>
            <a:off x="6172730" y="5516924"/>
            <a:ext cx="5460470" cy="600112"/>
          </a:xfrm>
          <a:noFill/>
          <a:ln>
            <a:noFill/>
          </a:ln>
        </p:spPr>
        <p:txBody>
          <a:bodyPr/>
          <a:lstStyle/>
          <a:p>
            <a:r>
              <a:rPr lang="ru-RU" sz="1200" b="1">
                <a:solidFill>
                  <a:srgbClr val="1C1D22"/>
                </a:solidFill>
              </a:rPr>
              <a:t>ФСП. </a:t>
            </a:r>
            <a:r>
              <a:rPr lang="ru-RU" sz="1200">
                <a:solidFill>
                  <a:srgbClr val="1C1D22"/>
                </a:solidFill>
              </a:rPr>
              <a:t>призовые места и число стартов, давность, профильность</a:t>
            </a:r>
            <a:endParaRPr lang="ru-RU" sz="1200">
              <a:solidFill>
                <a:srgbClr val="1C1D22"/>
              </a:solidFill>
            </a:endParaRPr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/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 sz="2000" b="1">
                <a:solidFill>
                  <a:srgbClr val="FFFFFF"/>
                </a:solidFill>
              </a:rPr>
              <a:t>Как устроен подбор</a:t>
            </a:r>
            <a:endParaRPr lang="ru-RU" sz="20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/>
          <p:cNvSpPr/>
          <p:nvPr/>
        </p:nvSpPr>
        <p:spPr>
          <a:xfrm>
            <a:off x="346075" y="324562"/>
            <a:ext cx="537667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21"/>
          </p:nvPr>
        </p:nvSpPr>
        <p:spPr>
          <a:xfrm>
            <a:off x="6755267" y="1343263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sz="1800" b="1">
                <a:solidFill>
                  <a:srgbClr val="FF0053"/>
                </a:solidFill>
              </a:rPr>
              <a:t>8 из 10</a:t>
            </a:r>
            <a:endParaRPr lang="ru-RU" sz="1800" b="1">
              <a:solidFill>
                <a:srgbClr val="FF0053"/>
              </a:solidFill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8"/>
          </p:nvPr>
        </p:nvSpPr>
        <p:spPr>
          <a:xfrm>
            <a:off x="6755267" y="1722800"/>
            <a:ext cx="4790314" cy="642164"/>
          </a:xfrm>
        </p:spPr>
        <p:txBody>
          <a:bodyPr/>
          <a:lstStyle/>
          <a:p>
            <a:r>
              <a:rPr lang="ru-RU" sz="1100">
                <a:solidFill>
                  <a:srgbClr val="1C1D22"/>
                </a:solidFill>
              </a:rPr>
              <a:t>первых кандидатов в выдаче действительно подходят; у поиска по словам в резюме — 5 из 10</a:t>
            </a:r>
            <a:endParaRPr lang="ru-RU" sz="1100">
              <a:solidFill>
                <a:srgbClr val="1C1D22"/>
              </a:solidFill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22"/>
          </p:nvPr>
        </p:nvSpPr>
        <p:spPr>
          <a:xfrm>
            <a:off x="6755267" y="2611824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sz="1800" b="1">
                <a:solidFill>
                  <a:srgbClr val="520978"/>
                </a:solidFill>
              </a:rPr>
              <a:t>24% против 60%</a:t>
            </a:r>
            <a:endParaRPr lang="ru-RU" sz="1800" b="1">
              <a:solidFill>
                <a:srgbClr val="520978"/>
              </a:solidFill>
            </a:endParaRP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23"/>
          </p:nvPr>
        </p:nvSpPr>
        <p:spPr>
          <a:xfrm>
            <a:off x="6755267" y="2991361"/>
            <a:ext cx="4790314" cy="642164"/>
          </a:xfrm>
        </p:spPr>
        <p:txBody>
          <a:bodyPr/>
          <a:lstStyle/>
          <a:p>
            <a:r>
              <a:rPr lang="ru-RU" sz="1100">
                <a:solidFill>
                  <a:srgbClr val="1C1D22"/>
                </a:solidFill>
              </a:rPr>
              <a:t>доля людей в топ-10 без обязательного навыка: у нас и у поиска по словам</a:t>
            </a:r>
            <a:endParaRPr lang="ru-RU" sz="1100">
              <a:solidFill>
                <a:srgbClr val="1C1D22"/>
              </a:solidFill>
            </a:endParaRP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24"/>
          </p:nvPr>
        </p:nvSpPr>
        <p:spPr>
          <a:xfrm>
            <a:off x="6755267" y="3880385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sz="1800" b="1">
                <a:solidFill>
                  <a:srgbClr val="8A83D1"/>
                </a:solidFill>
              </a:rPr>
              <a:t>nDCG 0.58</a:t>
            </a:r>
            <a:endParaRPr lang="ru-RU" sz="1800" b="1">
              <a:solidFill>
                <a:srgbClr val="8A83D1"/>
              </a:solidFill>
            </a:endParaRP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25"/>
          </p:nvPr>
        </p:nvSpPr>
        <p:spPr>
          <a:xfrm>
            <a:off x="6755267" y="4259922"/>
            <a:ext cx="4790314" cy="642164"/>
          </a:xfrm>
        </p:spPr>
        <p:txBody>
          <a:bodyPr/>
          <a:lstStyle/>
          <a:p>
            <a:r>
              <a:rPr lang="ru-RU" sz="1100">
                <a:solidFill>
                  <a:srgbClr val="1C1D22"/>
                </a:solidFill>
              </a:rPr>
              <a:t>подходящие стоят выше неподходящих; у поиска по словам — 0.26</a:t>
            </a:r>
            <a:endParaRPr lang="ru-RU" sz="1100">
              <a:solidFill>
                <a:srgbClr val="1C1D22"/>
              </a:solidFill>
            </a:endParaRPr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26"/>
          </p:nvPr>
        </p:nvSpPr>
        <p:spPr>
          <a:xfrm>
            <a:off x="6755267" y="5148947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 lang="ru-RU" sz="1800" b="1">
                <a:solidFill>
                  <a:srgbClr val="FC3777"/>
                </a:solidFill>
              </a:rPr>
              <a:t>Честный процент</a:t>
            </a:r>
            <a:endParaRPr lang="ru-RU" sz="1800" b="1">
              <a:solidFill>
                <a:srgbClr val="FC3777"/>
              </a:solidFill>
            </a:endParaRPr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27"/>
          </p:nvPr>
        </p:nvSpPr>
        <p:spPr>
          <a:xfrm>
            <a:off x="6755267" y="5528484"/>
            <a:ext cx="4790314" cy="642164"/>
          </a:xfrm>
        </p:spPr>
        <p:txBody>
          <a:bodyPr/>
          <a:lstStyle/>
          <a:p>
            <a:r>
              <a:rPr lang="ru-RU" sz="1100">
                <a:solidFill>
                  <a:srgbClr val="1C1D22"/>
                </a:solidFill>
              </a:rPr>
              <a:t>процент «подходит» откалиброван: ошибка обещания — 0.010</a:t>
            </a:r>
            <a:endParaRPr lang="ru-RU" sz="1100">
              <a:solidFill>
                <a:srgbClr val="1C1D22"/>
              </a:solidFill>
            </a:endParaRPr>
          </a:p>
        </p:txBody>
      </p:sp>
      <p:graphicFrame>
        <p:nvGraphicFramePr>
          <p:cNvPr id="12" name="Диаграмма 11"/>
          <p:cNvGraphicFramePr/>
          <p:nvPr/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5" name="Заголовок 13"/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 sz="2000" b="1">
                <a:solidFill>
                  <a:srgbClr val="FFFFFF"/>
                </a:solidFill>
              </a:rPr>
              <a:t>Насколько хорошо подбираем</a:t>
            </a:r>
            <a:endParaRPr lang="ru-RU" sz="20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/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/>
          <p:cNvSpPr>
            <a:spLocks noGrp="1"/>
          </p:cNvSpPr>
          <p:nvPr>
            <p:ph type="body" sz="quarter" idx="37"/>
          </p:nvPr>
        </p:nvSpPr>
        <p:spPr>
          <a:xfrm>
            <a:off x="780565" y="2493074"/>
            <a:ext cx="2965634" cy="423628"/>
          </a:xfrm>
        </p:spPr>
        <p:txBody>
          <a:bodyPr/>
          <a:lstStyle/>
          <a:p>
            <a:r>
              <a:rPr lang="ru-RU" sz="1400" b="1">
                <a:solidFill>
                  <a:srgbClr val="520978"/>
                </a:solidFill>
              </a:rPr>
              <a:t>ФСП ID</a:t>
            </a:r>
            <a:endParaRPr lang="ru-RU" sz="1400" b="1">
              <a:solidFill>
                <a:srgbClr val="520978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38"/>
          </p:nvPr>
        </p:nvSpPr>
        <p:spPr>
          <a:xfrm>
            <a:off x="780565" y="3128740"/>
            <a:ext cx="2965633" cy="2797928"/>
          </a:xfrm>
        </p:spPr>
        <p:txBody>
          <a:bodyPr/>
          <a:lstStyle/>
          <a:p>
            <a:r>
              <a:rPr lang="ru-RU" sz="1300">
                <a:solidFill>
                  <a:srgbClr val="1C1D22"/>
                </a:solidFill>
              </a:rPr>
              <a:t>Кандидат входит через ФСП ID — и его результаты подтягиваются сами. Привязать чужой профиль нельзя. Доступа к настоящему ФСП ID на хакатоне нет, поэтому сейчас работает имитация.</a:t>
            </a:r>
            <a:endParaRPr lang="ru-RU" sz="1300">
              <a:solidFill>
                <a:srgbClr val="1C1D22"/>
              </a:solidFill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39"/>
          </p:nvPr>
        </p:nvSpPr>
        <p:spPr>
          <a:xfrm>
            <a:off x="4623178" y="2493074"/>
            <a:ext cx="3034896" cy="403756"/>
          </a:xfrm>
        </p:spPr>
        <p:txBody>
          <a:bodyPr/>
          <a:lstStyle/>
          <a:p>
            <a:r>
              <a:rPr lang="ru-RU" sz="1400" b="1">
                <a:solidFill>
                  <a:srgbClr val="520978"/>
                </a:solidFill>
              </a:rPr>
              <a:t>Результаты</a:t>
            </a:r>
            <a:endParaRPr lang="ru-RU" sz="1400" b="1">
              <a:solidFill>
                <a:srgbClr val="520978"/>
              </a:solidFill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40"/>
          </p:nvPr>
        </p:nvSpPr>
        <p:spPr>
          <a:xfrm>
            <a:off x="4623178" y="3128740"/>
            <a:ext cx="3034896" cy="2797928"/>
          </a:xfrm>
        </p:spPr>
        <p:txBody>
          <a:bodyPr/>
          <a:lstStyle/>
          <a:p>
            <a:r>
              <a:rPr lang="ru-RU" sz="1300">
                <a:solidFill>
                  <a:srgbClr val="1C1D22"/>
                </a:solidFill>
              </a:rPr>
              <a:t>Места, число стартов, дисциплина и разряд. Они поднимают кандидата внутри его категории, но грейд не меняют. Участие без мест много не даст.</a:t>
            </a:r>
            <a:endParaRPr lang="ru-RU" sz="1300">
              <a:solidFill>
                <a:srgbClr val="1C1D22"/>
              </a:solidFill>
            </a:endParaRP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41"/>
          </p:nvPr>
        </p:nvSpPr>
        <p:spPr>
          <a:xfrm>
            <a:off x="8547959" y="2493074"/>
            <a:ext cx="2945464" cy="403913"/>
          </a:xfrm>
        </p:spPr>
        <p:txBody>
          <a:bodyPr/>
          <a:lstStyle/>
          <a:p>
            <a:r>
              <a:rPr lang="ru-RU" sz="1400" b="1">
                <a:solidFill>
                  <a:srgbClr val="520978"/>
                </a:solidFill>
              </a:rPr>
              <a:t>Нет ФСП — не беда</a:t>
            </a:r>
            <a:endParaRPr lang="ru-RU" sz="1400" b="1">
              <a:solidFill>
                <a:srgbClr val="520978"/>
              </a:solidFill>
            </a:endParaRP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42"/>
          </p:nvPr>
        </p:nvSpPr>
        <p:spPr>
          <a:xfrm>
            <a:off x="8547959" y="3128740"/>
            <a:ext cx="2945464" cy="2797928"/>
          </a:xfrm>
        </p:spPr>
        <p:txBody>
          <a:bodyPr/>
          <a:lstStyle/>
          <a:p>
            <a:r>
              <a:rPr lang="ru-RU" sz="1300">
                <a:solidFill>
                  <a:srgbClr val="1C1D22"/>
                </a:solidFill>
              </a:rPr>
              <a:t>Кандидата без соревнований не штрафуем: его ранжируют по тесту и заданиям. А для ИБ-специалиста CTF значит больше, чем робототехника.</a:t>
            </a:r>
            <a:endParaRPr lang="ru-RU" sz="1300">
              <a:solidFill>
                <a:srgbClr val="1C1D22"/>
              </a:solidFill>
            </a:endParaRPr>
          </a:p>
        </p:txBody>
      </p:sp>
      <p:sp>
        <p:nvSpPr>
          <p:cNvPr id="14" name="Заголовок 13"/>
          <p:cNvSpPr>
            <a:spLocks noGrp="1"/>
          </p:cNvSpPr>
          <p:nvPr>
            <p:ph type="title"/>
          </p:nvPr>
        </p:nvSpPr>
        <p:spPr>
          <a:xfrm>
            <a:off x="525816" y="335426"/>
            <a:ext cx="11331221" cy="376138"/>
          </a:xfrm>
        </p:spPr>
        <p:txBody>
          <a:bodyPr/>
          <a:lstStyle/>
          <a:p>
            <a:r>
              <a:rPr lang="ru-RU" sz="2000" b="1">
                <a:solidFill>
                  <a:srgbClr val="310F53"/>
                </a:solidFill>
              </a:rPr>
              <a:t>Что даёт участие в ФСП</a:t>
            </a:r>
            <a:endParaRPr lang="ru-RU" sz="2000" b="1">
              <a:solidFill>
                <a:srgbClr val="310F53"/>
              </a:solidFill>
            </a:endParaRPr>
          </a:p>
        </p:txBody>
      </p:sp>
      <p:sp>
        <p:nvSpPr>
          <p:cNvPr id="15" name="Текст 14"/>
          <p:cNvSpPr>
            <a:spLocks noGrp="1"/>
          </p:cNvSpPr>
          <p:nvPr>
            <p:ph type="body" sz="quarter" idx="49"/>
          </p:nvPr>
        </p:nvSpPr>
        <p:spPr>
          <a:xfrm>
            <a:off x="780565" y="1772415"/>
            <a:ext cx="1311031" cy="601141"/>
          </a:xfrm>
        </p:spPr>
        <p:txBody>
          <a:bodyPr/>
          <a:lstStyle/>
          <a:p>
            <a:r>
              <a:rPr lang="ru-RU" sz="2400" b="1">
                <a:solidFill>
                  <a:srgbClr val="FF0053"/>
                </a:solidFill>
              </a:rPr>
              <a:t>01</a:t>
            </a:r>
            <a:endParaRPr lang="ru-RU" sz="2400" b="1">
              <a:solidFill>
                <a:srgbClr val="FF0053"/>
              </a:solidFill>
            </a:endParaRPr>
          </a:p>
        </p:txBody>
      </p:sp>
      <p:sp>
        <p:nvSpPr>
          <p:cNvPr id="16" name="Текст 15"/>
          <p:cNvSpPr>
            <a:spLocks noGrp="1"/>
          </p:cNvSpPr>
          <p:nvPr>
            <p:ph type="body" sz="quarter" idx="50"/>
          </p:nvPr>
        </p:nvSpPr>
        <p:spPr>
          <a:xfrm>
            <a:off x="4615219" y="1766200"/>
            <a:ext cx="1311031" cy="572942"/>
          </a:xfrm>
        </p:spPr>
        <p:txBody>
          <a:bodyPr/>
          <a:lstStyle/>
          <a:p>
            <a:r>
              <a:rPr lang="ru-RU" sz="2400" b="1">
                <a:solidFill>
                  <a:srgbClr val="FF0053"/>
                </a:solidFill>
              </a:rPr>
              <a:t>02</a:t>
            </a:r>
            <a:endParaRPr lang="ru-RU" sz="2400" b="1">
              <a:solidFill>
                <a:srgbClr val="FF0053"/>
              </a:solidFill>
            </a:endParaRPr>
          </a:p>
        </p:txBody>
      </p:sp>
      <p:sp>
        <p:nvSpPr>
          <p:cNvPr id="17" name="Текст 16"/>
          <p:cNvSpPr>
            <a:spLocks noGrp="1"/>
          </p:cNvSpPr>
          <p:nvPr>
            <p:ph type="body" sz="quarter" idx="51"/>
          </p:nvPr>
        </p:nvSpPr>
        <p:spPr>
          <a:xfrm>
            <a:off x="8547959" y="1766043"/>
            <a:ext cx="1311031" cy="573165"/>
          </a:xfrm>
        </p:spPr>
        <p:txBody>
          <a:bodyPr/>
          <a:lstStyle/>
          <a:p>
            <a:r>
              <a:rPr lang="ru-RU" sz="2400" b="1">
                <a:solidFill>
                  <a:srgbClr val="FF0053"/>
                </a:solidFill>
              </a:rPr>
              <a:t>03</a:t>
            </a:r>
            <a:endParaRPr lang="ru-RU" sz="2400" b="1">
              <a:solidFill>
                <a:srgbClr val="FF0053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Скругленный прямоугольник 22"/>
          <p:cNvSpPr/>
          <p:nvPr/>
        </p:nvSpPr>
        <p:spPr>
          <a:xfrm>
            <a:off x="346075" y="324562"/>
            <a:ext cx="350215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/>
          <p:cNvSpPr>
            <a:spLocks noGrp="1"/>
          </p:cNvSpPr>
          <p:nvPr>
            <p:ph type="body" sz="quarter" idx="37"/>
          </p:nvPr>
        </p:nvSpPr>
        <p:spPr>
          <a:xfrm>
            <a:off x="1615961" y="1428777"/>
            <a:ext cx="3866856" cy="423628"/>
          </a:xfrm>
        </p:spPr>
        <p:txBody>
          <a:bodyPr/>
          <a:lstStyle/>
          <a:p>
            <a:r>
              <a:rPr lang="ru-RU" sz="1400" b="1">
                <a:solidFill>
                  <a:srgbClr val="520978"/>
                </a:solidFill>
              </a:rPr>
              <a:t>Метки доверия</a:t>
            </a:r>
            <a:endParaRPr lang="ru-RU" sz="1400" b="1">
              <a:solidFill>
                <a:srgbClr val="520978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38"/>
          </p:nvPr>
        </p:nvSpPr>
        <p:spPr>
          <a:xfrm>
            <a:off x="1615964" y="1996388"/>
            <a:ext cx="3866856" cy="672075"/>
          </a:xfrm>
        </p:spPr>
        <p:txBody>
          <a:bodyPr/>
          <a:lstStyle/>
          <a:p>
            <a:r>
              <a:rPr lang="ru-RU" sz="1200">
                <a:solidFill>
                  <a:srgbClr val="1C1D22"/>
                </a:solidFill>
              </a:rPr>
              <a:t>Проверенный ИНН и почта на домене компании</a:t>
            </a:r>
            <a:endParaRPr lang="ru-RU" sz="1200">
              <a:solidFill>
                <a:srgbClr val="1C1D22"/>
              </a:solidFill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39"/>
          </p:nvPr>
        </p:nvSpPr>
        <p:spPr>
          <a:xfrm>
            <a:off x="1596605" y="3032761"/>
            <a:ext cx="3866856" cy="403756"/>
          </a:xfrm>
        </p:spPr>
        <p:txBody>
          <a:bodyPr/>
          <a:lstStyle/>
          <a:p>
            <a:r>
              <a:rPr lang="ru-RU" sz="1400" b="1">
                <a:solidFill>
                  <a:srgbClr val="520978"/>
                </a:solidFill>
              </a:rPr>
              <a:t>Лимит</a:t>
            </a:r>
            <a:endParaRPr lang="ru-RU" sz="1400" b="1">
              <a:solidFill>
                <a:srgbClr val="520978"/>
              </a:solidFill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40"/>
          </p:nvPr>
        </p:nvSpPr>
        <p:spPr>
          <a:xfrm>
            <a:off x="1596605" y="3580500"/>
            <a:ext cx="3866856" cy="672075"/>
          </a:xfrm>
        </p:spPr>
        <p:txBody>
          <a:bodyPr/>
          <a:lstStyle/>
          <a:p>
            <a:r>
              <a:rPr lang="ru-RU" sz="1200">
                <a:solidFill>
                  <a:srgbClr val="1C1D22"/>
                </a:solidFill>
              </a:rPr>
              <a:t>Новая компания — 15 приглашений в день, проверенная — до 60</a:t>
            </a:r>
            <a:endParaRPr lang="ru-RU" sz="1200">
              <a:solidFill>
                <a:srgbClr val="1C1D22"/>
              </a:solidFill>
            </a:endParaRP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41"/>
          </p:nvPr>
        </p:nvSpPr>
        <p:spPr>
          <a:xfrm>
            <a:off x="1596605" y="4616873"/>
            <a:ext cx="3866856" cy="403913"/>
          </a:xfrm>
        </p:spPr>
        <p:txBody>
          <a:bodyPr/>
          <a:lstStyle/>
          <a:p>
            <a:r>
              <a:rPr lang="ru-RU" sz="1400" b="1">
                <a:solidFill>
                  <a:srgbClr val="520978"/>
                </a:solidFill>
              </a:rPr>
              <a:t>Поведение</a:t>
            </a:r>
            <a:endParaRPr lang="ru-RU" sz="1400" b="1">
              <a:solidFill>
                <a:srgbClr val="520978"/>
              </a:solidFill>
            </a:endParaRP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42"/>
          </p:nvPr>
        </p:nvSpPr>
        <p:spPr>
          <a:xfrm>
            <a:off x="1596605" y="5164612"/>
            <a:ext cx="3866856" cy="672075"/>
          </a:xfrm>
        </p:spPr>
        <p:txBody>
          <a:bodyPr/>
          <a:lstStyle/>
          <a:p>
            <a:r>
              <a:rPr lang="ru-RU" sz="1200">
                <a:solidFill>
                  <a:srgbClr val="1C1D22"/>
                </a:solidFill>
              </a:rPr>
              <a:t>Видно, отвечает ли компания после принятия и делает ли офферы</a:t>
            </a:r>
            <a:endParaRPr lang="ru-RU" sz="1200">
              <a:solidFill>
                <a:srgbClr val="1C1D22"/>
              </a:solidFill>
            </a:endParaRP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43"/>
          </p:nvPr>
        </p:nvSpPr>
        <p:spPr>
          <a:xfrm>
            <a:off x="7289068" y="1428777"/>
            <a:ext cx="3866856" cy="423628"/>
          </a:xfrm>
        </p:spPr>
        <p:txBody>
          <a:bodyPr/>
          <a:lstStyle/>
          <a:p>
            <a:r>
              <a:rPr lang="ru-RU" sz="1400" b="1">
                <a:solidFill>
                  <a:srgbClr val="520978"/>
                </a:solidFill>
              </a:rPr>
              <a:t>Жалобы</a:t>
            </a:r>
            <a:endParaRPr lang="ru-RU" sz="1400" b="1">
              <a:solidFill>
                <a:srgbClr val="520978"/>
              </a:solidFill>
            </a:endParaRPr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44"/>
          </p:nvPr>
        </p:nvSpPr>
        <p:spPr>
          <a:xfrm>
            <a:off x="7289071" y="1996388"/>
            <a:ext cx="3866856" cy="672075"/>
          </a:xfrm>
        </p:spPr>
        <p:txBody>
          <a:bodyPr/>
          <a:lstStyle/>
          <a:p>
            <a:r>
              <a:rPr lang="ru-RU" sz="1200">
                <a:solidFill>
                  <a:srgbClr val="1C1D22"/>
                </a:solidFill>
              </a:rPr>
              <a:t>Три жалобы за месяц — и приглашения компании на паузе</a:t>
            </a:r>
            <a:endParaRPr lang="ru-RU" sz="1200">
              <a:solidFill>
                <a:srgbClr val="1C1D22"/>
              </a:solidFill>
            </a:endParaRPr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45"/>
          </p:nvPr>
        </p:nvSpPr>
        <p:spPr>
          <a:xfrm>
            <a:off x="7269712" y="3032761"/>
            <a:ext cx="3866856" cy="403756"/>
          </a:xfrm>
        </p:spPr>
        <p:txBody>
          <a:bodyPr/>
          <a:lstStyle/>
          <a:p>
            <a:r>
              <a:rPr lang="ru-RU" sz="1400" b="1">
                <a:solidFill>
                  <a:srgbClr val="520978"/>
                </a:solidFill>
              </a:rPr>
              <a:t>Подозрительная зарплата</a:t>
            </a:r>
            <a:endParaRPr lang="ru-RU" sz="1400" b="1">
              <a:solidFill>
                <a:srgbClr val="520978"/>
              </a:solidFill>
            </a:endParaRPr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46"/>
          </p:nvPr>
        </p:nvSpPr>
        <p:spPr>
          <a:xfrm>
            <a:off x="7269712" y="3580500"/>
            <a:ext cx="3866856" cy="672075"/>
          </a:xfrm>
        </p:spPr>
        <p:txBody>
          <a:bodyPr/>
          <a:lstStyle/>
          <a:p>
            <a:r>
              <a:rPr lang="ru-RU" sz="1200">
                <a:solidFill>
                  <a:srgbClr val="1C1D22"/>
                </a:solidFill>
              </a:rPr>
              <a:t>Если вилка сильно выше рынка, кандидат увидит предупреждение</a:t>
            </a:r>
            <a:endParaRPr lang="ru-RU" sz="1200">
              <a:solidFill>
                <a:srgbClr val="1C1D22"/>
              </a:solidFill>
            </a:endParaRPr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47"/>
          </p:nvPr>
        </p:nvSpPr>
        <p:spPr>
          <a:xfrm>
            <a:off x="7269712" y="4616873"/>
            <a:ext cx="3866856" cy="403913"/>
          </a:xfrm>
        </p:spPr>
        <p:txBody>
          <a:bodyPr/>
          <a:lstStyle/>
          <a:p>
            <a:r>
              <a:rPr lang="ru-RU" sz="1400" b="1">
                <a:solidFill>
                  <a:srgbClr val="520978"/>
                </a:solidFill>
              </a:rPr>
              <a:t>Связь с ATS</a:t>
            </a:r>
            <a:endParaRPr lang="ru-RU" sz="1400" b="1">
              <a:solidFill>
                <a:srgbClr val="520978"/>
              </a:solidFill>
            </a:endParaRPr>
          </a:p>
        </p:txBody>
      </p:sp>
      <p:sp>
        <p:nvSpPr>
          <p:cNvPr id="13" name="Текст 12"/>
          <p:cNvSpPr>
            <a:spLocks noGrp="1"/>
          </p:cNvSpPr>
          <p:nvPr>
            <p:ph type="body" sz="quarter" idx="48"/>
          </p:nvPr>
        </p:nvSpPr>
        <p:spPr>
          <a:xfrm>
            <a:off x="7269712" y="5164612"/>
            <a:ext cx="3866856" cy="672075"/>
          </a:xfrm>
        </p:spPr>
        <p:txBody>
          <a:bodyPr/>
          <a:lstStyle/>
          <a:p>
            <a:r>
              <a:rPr lang="ru-RU" sz="1200">
                <a:solidFill>
                  <a:srgbClr val="1C1D22"/>
                </a:solidFill>
              </a:rPr>
              <a:t>Кандидаты и этапы уходят в Huntflow без ручного копирования</a:t>
            </a:r>
            <a:endParaRPr lang="ru-RU" sz="1200">
              <a:solidFill>
                <a:srgbClr val="1C1D22"/>
              </a:solidFill>
            </a:endParaRPr>
          </a:p>
        </p:txBody>
      </p:sp>
      <p:sp>
        <p:nvSpPr>
          <p:cNvPr id="14" name="Заголовок 13"/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 sz="2000" b="1">
                <a:solidFill>
                  <a:srgbClr val="FFFFFF"/>
                </a:solidFill>
              </a:rPr>
              <a:t>Защита от фейков</a:t>
            </a:r>
            <a:endParaRPr lang="ru-RU" sz="2000" b="1">
              <a:solidFill>
                <a:srgbClr val="FFFFFF"/>
              </a:solidFill>
            </a:endParaRPr>
          </a:p>
        </p:txBody>
      </p:sp>
      <p:sp>
        <p:nvSpPr>
          <p:cNvPr id="15" name="Текст 14"/>
          <p:cNvSpPr>
            <a:spLocks noGrp="1"/>
          </p:cNvSpPr>
          <p:nvPr>
            <p:ph type="body" sz="quarter" idx="49"/>
          </p:nvPr>
        </p:nvSpPr>
        <p:spPr>
          <a:xfrm>
            <a:off x="520913" y="1394052"/>
            <a:ext cx="771003" cy="423628"/>
          </a:xfrm>
        </p:spPr>
        <p:txBody>
          <a:bodyPr/>
          <a:lstStyle/>
          <a:p>
            <a:r>
              <a:rPr lang="ru-RU" sz="2400" b="1">
                <a:solidFill>
                  <a:srgbClr val="FF0053"/>
                </a:solidFill>
              </a:rPr>
              <a:t>01</a:t>
            </a:r>
            <a:endParaRPr lang="ru-RU" sz="2400" b="1">
              <a:solidFill>
                <a:srgbClr val="FF0053"/>
              </a:solidFill>
            </a:endParaRPr>
          </a:p>
        </p:txBody>
      </p:sp>
      <p:sp>
        <p:nvSpPr>
          <p:cNvPr id="16" name="Текст 15"/>
          <p:cNvSpPr>
            <a:spLocks noGrp="1"/>
          </p:cNvSpPr>
          <p:nvPr>
            <p:ph type="body" sz="quarter" idx="50"/>
          </p:nvPr>
        </p:nvSpPr>
        <p:spPr>
          <a:xfrm>
            <a:off x="501557" y="2998036"/>
            <a:ext cx="771003" cy="403756"/>
          </a:xfrm>
        </p:spPr>
        <p:txBody>
          <a:bodyPr/>
          <a:lstStyle/>
          <a:p>
            <a:r>
              <a:rPr lang="ru-RU" sz="2400" b="1">
                <a:solidFill>
                  <a:srgbClr val="FF0053"/>
                </a:solidFill>
              </a:rPr>
              <a:t>02</a:t>
            </a:r>
            <a:endParaRPr lang="ru-RU" sz="2400" b="1">
              <a:solidFill>
                <a:srgbClr val="FF0053"/>
              </a:solidFill>
            </a:endParaRPr>
          </a:p>
        </p:txBody>
      </p:sp>
      <p:sp>
        <p:nvSpPr>
          <p:cNvPr id="17" name="Текст 16"/>
          <p:cNvSpPr>
            <a:spLocks noGrp="1"/>
          </p:cNvSpPr>
          <p:nvPr>
            <p:ph type="body" sz="quarter" idx="51"/>
          </p:nvPr>
        </p:nvSpPr>
        <p:spPr>
          <a:xfrm>
            <a:off x="501557" y="4582148"/>
            <a:ext cx="771003" cy="403913"/>
          </a:xfrm>
        </p:spPr>
        <p:txBody>
          <a:bodyPr/>
          <a:lstStyle/>
          <a:p>
            <a:r>
              <a:rPr lang="ru-RU" sz="2400" b="1">
                <a:solidFill>
                  <a:srgbClr val="FF0053"/>
                </a:solidFill>
              </a:rPr>
              <a:t>03</a:t>
            </a:r>
            <a:endParaRPr lang="ru-RU" sz="2400" b="1">
              <a:solidFill>
                <a:srgbClr val="FF0053"/>
              </a:solidFill>
            </a:endParaRPr>
          </a:p>
        </p:txBody>
      </p:sp>
      <p:sp>
        <p:nvSpPr>
          <p:cNvPr id="18" name="Текст 17"/>
          <p:cNvSpPr>
            <a:spLocks noGrp="1"/>
          </p:cNvSpPr>
          <p:nvPr>
            <p:ph type="body" sz="quarter" idx="52"/>
          </p:nvPr>
        </p:nvSpPr>
        <p:spPr>
          <a:xfrm>
            <a:off x="6194020" y="1394052"/>
            <a:ext cx="771003" cy="423628"/>
          </a:xfrm>
        </p:spPr>
        <p:txBody>
          <a:bodyPr/>
          <a:lstStyle/>
          <a:p>
            <a:r>
              <a:rPr lang="ru-RU" sz="2400" b="1">
                <a:solidFill>
                  <a:srgbClr val="FF0053"/>
                </a:solidFill>
              </a:rPr>
              <a:t>04</a:t>
            </a:r>
            <a:endParaRPr lang="ru-RU" sz="2400" b="1">
              <a:solidFill>
                <a:srgbClr val="FF0053"/>
              </a:solidFill>
            </a:endParaRPr>
          </a:p>
        </p:txBody>
      </p:sp>
      <p:sp>
        <p:nvSpPr>
          <p:cNvPr id="19" name="Текст 18"/>
          <p:cNvSpPr>
            <a:spLocks noGrp="1"/>
          </p:cNvSpPr>
          <p:nvPr>
            <p:ph type="body" sz="quarter" idx="53"/>
          </p:nvPr>
        </p:nvSpPr>
        <p:spPr>
          <a:xfrm>
            <a:off x="6174664" y="2998036"/>
            <a:ext cx="771003" cy="403756"/>
          </a:xfrm>
        </p:spPr>
        <p:txBody>
          <a:bodyPr/>
          <a:lstStyle/>
          <a:p>
            <a:r>
              <a:rPr lang="ru-RU" sz="2400" b="1">
                <a:solidFill>
                  <a:srgbClr val="FF0053"/>
                </a:solidFill>
              </a:rPr>
              <a:t>05</a:t>
            </a:r>
            <a:endParaRPr lang="ru-RU" sz="2400" b="1">
              <a:solidFill>
                <a:srgbClr val="FF0053"/>
              </a:solidFill>
            </a:endParaRPr>
          </a:p>
        </p:txBody>
      </p:sp>
      <p:sp>
        <p:nvSpPr>
          <p:cNvPr id="20" name="Текст 19"/>
          <p:cNvSpPr>
            <a:spLocks noGrp="1"/>
          </p:cNvSpPr>
          <p:nvPr>
            <p:ph type="body" sz="quarter" idx="54"/>
          </p:nvPr>
        </p:nvSpPr>
        <p:spPr>
          <a:xfrm>
            <a:off x="6174664" y="4582148"/>
            <a:ext cx="771003" cy="403913"/>
          </a:xfrm>
        </p:spPr>
        <p:txBody>
          <a:bodyPr/>
          <a:lstStyle/>
          <a:p>
            <a:r>
              <a:rPr lang="ru-RU" sz="2400" b="1">
                <a:solidFill>
                  <a:srgbClr val="FF0053"/>
                </a:solidFill>
              </a:rPr>
              <a:t>06</a:t>
            </a:r>
            <a:endParaRPr lang="ru-RU" sz="2400" b="1">
              <a:solidFill>
                <a:srgbClr val="FF0053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/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/>
          <p:cNvSpPr>
            <a:spLocks noGrp="1"/>
          </p:cNvSpPr>
          <p:nvPr>
            <p:ph type="body" sz="quarter" idx="37"/>
          </p:nvPr>
        </p:nvSpPr>
        <p:spPr>
          <a:xfrm>
            <a:off x="780565" y="2493074"/>
            <a:ext cx="2965634" cy="423628"/>
          </a:xfrm>
        </p:spPr>
        <p:txBody>
          <a:bodyPr/>
          <a:lstStyle/>
          <a:p>
            <a:r>
              <a:rPr lang="ru-RU" sz="1400" b="1">
                <a:solidFill>
                  <a:srgbClr val="520978"/>
                </a:solidFill>
              </a:rPr>
              <a:t>Специализация по резюме</a:t>
            </a:r>
            <a:endParaRPr lang="ru-RU" sz="1400" b="1">
              <a:solidFill>
                <a:srgbClr val="520978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38"/>
          </p:nvPr>
        </p:nvSpPr>
        <p:spPr>
          <a:xfrm>
            <a:off x="780565" y="3128740"/>
            <a:ext cx="2965633" cy="2797928"/>
          </a:xfrm>
        </p:spPr>
        <p:txBody>
          <a:bodyPr/>
          <a:lstStyle/>
          <a:p>
            <a:r>
              <a:rPr lang="ru-RU" sz="1300">
                <a:solidFill>
                  <a:srgbClr val="1C1D22"/>
                </a:solidFill>
              </a:rPr>
              <a:t>Модель читает резюме и подсказывает направление. На проверочных данных угадывает в 99.8% случаев, но решение всё равно за кандидатом.</a:t>
            </a:r>
            <a:endParaRPr lang="ru-RU" sz="1300">
              <a:solidFill>
                <a:srgbClr val="1C1D22"/>
              </a:solidFill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39"/>
          </p:nvPr>
        </p:nvSpPr>
        <p:spPr>
          <a:xfrm>
            <a:off x="4623178" y="2493074"/>
            <a:ext cx="3034896" cy="403756"/>
          </a:xfrm>
        </p:spPr>
        <p:txBody>
          <a:bodyPr/>
          <a:lstStyle/>
          <a:p>
            <a:r>
              <a:rPr lang="ru-RU" sz="1400" b="1">
                <a:solidFill>
                  <a:srgbClr val="520978"/>
                </a:solidFill>
              </a:rPr>
              <a:t>Навыки с опечатками</a:t>
            </a:r>
            <a:endParaRPr lang="ru-RU" sz="1400" b="1">
              <a:solidFill>
                <a:srgbClr val="520978"/>
              </a:solidFill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40"/>
          </p:nvPr>
        </p:nvSpPr>
        <p:spPr>
          <a:xfrm>
            <a:off x="4623178" y="3128740"/>
            <a:ext cx="3034896" cy="2797928"/>
          </a:xfrm>
        </p:spPr>
        <p:txBody>
          <a:bodyPr/>
          <a:lstStyle/>
          <a:p>
            <a:r>
              <a:rPr lang="ru-RU" sz="1300">
                <a:solidFill>
                  <a:srgbClr val="1C1D22"/>
                </a:solidFill>
              </a:rPr>
              <a:t>«Постгрес», «Кубернетес», «реакт» — система понимает, о чём речь, и предлагает добавить навык.</a:t>
            </a:r>
            <a:endParaRPr lang="ru-RU" sz="1300">
              <a:solidFill>
                <a:srgbClr val="1C1D22"/>
              </a:solidFill>
            </a:endParaRPr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41"/>
          </p:nvPr>
        </p:nvSpPr>
        <p:spPr>
          <a:xfrm>
            <a:off x="8547959" y="2493074"/>
            <a:ext cx="2945464" cy="403913"/>
          </a:xfrm>
        </p:spPr>
        <p:txBody>
          <a:bodyPr/>
          <a:lstStyle/>
          <a:p>
            <a:r>
              <a:rPr lang="ru-RU" sz="1400" b="1">
                <a:solidFill>
                  <a:srgbClr val="520978"/>
                </a:solidFill>
              </a:rPr>
              <a:t>Подсказка грейда</a:t>
            </a:r>
            <a:endParaRPr lang="ru-RU" sz="1400" b="1">
              <a:solidFill>
                <a:srgbClr val="520978"/>
              </a:solidFill>
            </a:endParaRPr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42"/>
          </p:nvPr>
        </p:nvSpPr>
        <p:spPr>
          <a:xfrm>
            <a:off x="8547959" y="3128740"/>
            <a:ext cx="2945464" cy="2797928"/>
          </a:xfrm>
        </p:spPr>
        <p:txBody>
          <a:bodyPr/>
          <a:lstStyle/>
          <a:p>
            <a:r>
              <a:rPr lang="ru-RU" sz="1300">
                <a:solidFill>
                  <a:srgbClr val="1C1D22"/>
                </a:solidFill>
              </a:rPr>
              <a:t>По стажу, стеку, результатам ФСП и опросу модель предлагает, на какой грейд пробовать. Решает всё равно тест.</a:t>
            </a:r>
            <a:endParaRPr lang="ru-RU" sz="1300">
              <a:solidFill>
                <a:srgbClr val="1C1D22"/>
              </a:solidFill>
            </a:endParaRPr>
          </a:p>
        </p:txBody>
      </p:sp>
      <p:sp>
        <p:nvSpPr>
          <p:cNvPr id="14" name="Заголовок 13"/>
          <p:cNvSpPr>
            <a:spLocks noGrp="1"/>
          </p:cNvSpPr>
          <p:nvPr>
            <p:ph type="title"/>
          </p:nvPr>
        </p:nvSpPr>
        <p:spPr>
          <a:xfrm>
            <a:off x="525816" y="335426"/>
            <a:ext cx="11331221" cy="376138"/>
          </a:xfrm>
        </p:spPr>
        <p:txBody>
          <a:bodyPr/>
          <a:lstStyle/>
          <a:p>
            <a:r>
              <a:rPr lang="ru-RU" sz="2000" b="1">
                <a:solidFill>
                  <a:srgbClr val="310F53"/>
                </a:solidFill>
              </a:rPr>
              <a:t>Где помогает машинное обучение</a:t>
            </a:r>
            <a:endParaRPr lang="ru-RU" sz="2000" b="1">
              <a:solidFill>
                <a:srgbClr val="310F53"/>
              </a:solidFill>
            </a:endParaRPr>
          </a:p>
        </p:txBody>
      </p:sp>
      <p:sp>
        <p:nvSpPr>
          <p:cNvPr id="15" name="Текст 14"/>
          <p:cNvSpPr>
            <a:spLocks noGrp="1"/>
          </p:cNvSpPr>
          <p:nvPr>
            <p:ph type="body" sz="quarter" idx="49"/>
          </p:nvPr>
        </p:nvSpPr>
        <p:spPr>
          <a:xfrm>
            <a:off x="780565" y="1772415"/>
            <a:ext cx="1311031" cy="601141"/>
          </a:xfrm>
        </p:spPr>
        <p:txBody>
          <a:bodyPr/>
          <a:lstStyle/>
          <a:p>
            <a:r>
              <a:rPr lang="ru-RU" sz="2400" b="1">
                <a:solidFill>
                  <a:srgbClr val="FF0053"/>
                </a:solidFill>
              </a:rPr>
              <a:t>01</a:t>
            </a:r>
            <a:endParaRPr lang="ru-RU" sz="2400" b="1">
              <a:solidFill>
                <a:srgbClr val="FF0053"/>
              </a:solidFill>
            </a:endParaRPr>
          </a:p>
        </p:txBody>
      </p:sp>
      <p:sp>
        <p:nvSpPr>
          <p:cNvPr id="16" name="Текст 15"/>
          <p:cNvSpPr>
            <a:spLocks noGrp="1"/>
          </p:cNvSpPr>
          <p:nvPr>
            <p:ph type="body" sz="quarter" idx="50"/>
          </p:nvPr>
        </p:nvSpPr>
        <p:spPr>
          <a:xfrm>
            <a:off x="4615219" y="1766200"/>
            <a:ext cx="1311031" cy="572942"/>
          </a:xfrm>
        </p:spPr>
        <p:txBody>
          <a:bodyPr/>
          <a:lstStyle/>
          <a:p>
            <a:r>
              <a:rPr lang="ru-RU" sz="2400" b="1">
                <a:solidFill>
                  <a:srgbClr val="FF0053"/>
                </a:solidFill>
              </a:rPr>
              <a:t>02</a:t>
            </a:r>
            <a:endParaRPr lang="ru-RU" sz="2400" b="1">
              <a:solidFill>
                <a:srgbClr val="FF0053"/>
              </a:solidFill>
            </a:endParaRPr>
          </a:p>
        </p:txBody>
      </p:sp>
      <p:sp>
        <p:nvSpPr>
          <p:cNvPr id="17" name="Текст 16"/>
          <p:cNvSpPr>
            <a:spLocks noGrp="1"/>
          </p:cNvSpPr>
          <p:nvPr>
            <p:ph type="body" sz="quarter" idx="51"/>
          </p:nvPr>
        </p:nvSpPr>
        <p:spPr>
          <a:xfrm>
            <a:off x="8547959" y="1766043"/>
            <a:ext cx="1311031" cy="573165"/>
          </a:xfrm>
        </p:spPr>
        <p:txBody>
          <a:bodyPr/>
          <a:lstStyle/>
          <a:p>
            <a:r>
              <a:rPr lang="ru-RU" sz="2400" b="1">
                <a:solidFill>
                  <a:srgbClr val="FF0053"/>
                </a:solidFill>
              </a:rPr>
              <a:t>03</a:t>
            </a:r>
            <a:endParaRPr lang="ru-RU" sz="2400" b="1">
              <a:solidFill>
                <a:srgbClr val="FF0053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/>
          <p:cNvSpPr/>
          <p:nvPr/>
        </p:nvSpPr>
        <p:spPr>
          <a:xfrm>
            <a:off x="346075" y="324562"/>
            <a:ext cx="3502152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grpSp>
        <p:nvGrpSpPr>
          <p:cNvPr id="8" name="Group 82"/>
          <p:cNvGrpSpPr>
            <a:grpSpLocks noChangeAspect="1"/>
          </p:cNvGrpSpPr>
          <p:nvPr/>
        </p:nvGrpSpPr>
        <p:grpSpPr>
          <a:xfrm>
            <a:off x="1149124" y="1149443"/>
            <a:ext cx="4267960" cy="2822929"/>
            <a:chOff x="1027152" y="2693983"/>
            <a:chExt cx="6796849" cy="4462905"/>
          </a:xfrm>
        </p:grpSpPr>
        <p:grpSp>
          <p:nvGrpSpPr>
            <p:cNvPr id="9" name="Group 83"/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/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3" name="Rectangle 2"/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4" name="AutoShape 3"/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5" name="Oval 4"/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6" name="Oval 5"/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7" name="Oval 6"/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8" name="Rectangle 92"/>
              <p:cNvSpPr/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19" name="Group 93"/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/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3" name="Freeform 14"/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4" name="Freeform 15"/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5" name="Freeform 16"/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6" name="Freeform 17"/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7" name="Freeform 18"/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8" name="Freeform 19"/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9" name="Freeform 20"/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30" name="Freeform 21"/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20" name="Freeform 25"/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21" name="Oval 6"/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10" name="TextBox 9"/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www.</a:t>
              </a:r>
              <a:r>
                <a:rPr lang="en-US" sz="1000" dirty="0" err="1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lider</a:t>
              </a:r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.com</a:t>
              </a:r>
              <a:endParaRPr lang="id-ID" sz="1000" dirty="0">
                <a:solidFill>
                  <a:schemeClr val="tx1"/>
                </a:solidFill>
                <a:latin typeface="Poppins Light" charset="0"/>
                <a:ea typeface="Poppins Light" charset="0"/>
                <a:cs typeface="Poppins Light" charset="0"/>
              </a:endParaRPr>
            </a:p>
          </p:txBody>
        </p:sp>
        <p:sp>
          <p:nvSpPr>
            <p:cNvPr id="11" name="Freeform 29"/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dirty="0">
                <a:latin typeface="Lato Light"/>
              </a:endParaRPr>
            </a:p>
          </p:txBody>
        </p:sp>
      </p:grpSp>
      <p:grpSp>
        <p:nvGrpSpPr>
          <p:cNvPr id="31" name="Group 82"/>
          <p:cNvGrpSpPr>
            <a:grpSpLocks noChangeAspect="1"/>
          </p:cNvGrpSpPr>
          <p:nvPr/>
        </p:nvGrpSpPr>
        <p:grpSpPr>
          <a:xfrm>
            <a:off x="6794022" y="1149443"/>
            <a:ext cx="4267960" cy="2822929"/>
            <a:chOff x="1027152" y="2693983"/>
            <a:chExt cx="6796849" cy="4462905"/>
          </a:xfrm>
        </p:grpSpPr>
        <p:grpSp>
          <p:nvGrpSpPr>
            <p:cNvPr id="32" name="Group 83"/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/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6" name="Rectangle 2"/>
              <p:cNvSpPr/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7" name="AutoShape 3"/>
              <p:cNvSpPr/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8" name="Oval 4"/>
              <p:cNvSpPr/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9" name="Oval 5"/>
              <p:cNvSpPr/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0" name="Oval 6"/>
              <p:cNvSpPr/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1" name="Rectangle 92"/>
              <p:cNvSpPr/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42" name="Group 93"/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/>
                <p:cNvSpPr/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6" name="Freeform 14"/>
                <p:cNvSpPr/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7" name="Freeform 15"/>
                <p:cNvSpPr/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8" name="Freeform 16"/>
                <p:cNvSpPr/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9" name="Freeform 17"/>
                <p:cNvSpPr/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0" name="Freeform 18"/>
                <p:cNvSpPr/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1" name="Freeform 19"/>
                <p:cNvSpPr/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2" name="Freeform 20"/>
                <p:cNvSpPr/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3" name="Freeform 21"/>
                <p:cNvSpPr/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43" name="Freeform 25"/>
              <p:cNvSpPr/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4" name="Oval 6"/>
              <p:cNvSpPr/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33" name="TextBox 32"/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www.</a:t>
              </a:r>
              <a:r>
                <a:rPr lang="en-US" sz="1000" dirty="0" err="1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lider</a:t>
              </a:r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.com</a:t>
              </a:r>
              <a:endParaRPr lang="id-ID" sz="1000" dirty="0">
                <a:solidFill>
                  <a:schemeClr val="tx1"/>
                </a:solidFill>
                <a:latin typeface="Poppins Light" charset="0"/>
                <a:ea typeface="Poppins Light" charset="0"/>
                <a:cs typeface="Poppins Light" charset="0"/>
              </a:endParaRPr>
            </a:p>
          </p:txBody>
        </p:sp>
        <p:sp>
          <p:nvSpPr>
            <p:cNvPr id="34" name="Freeform 29"/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id-ID" dirty="0">
                <a:latin typeface="Lato Light"/>
              </a:endParaRPr>
            </a:p>
          </p:txBody>
        </p:sp>
      </p:grpSp>
      <p:sp>
        <p:nvSpPr>
          <p:cNvPr id="7" name="Номер слайда 6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ru-RU" sz="1200">
                <a:solidFill>
                  <a:srgbClr val="1C1D22"/>
                </a:solidFill>
              </a:rPr>
              <a:t>Работодатель сначала видит подходящие категории: сколько людей, лучший процент, кто из ФСП</a:t>
            </a:r>
            <a:endParaRPr lang="ru-RU" sz="1200">
              <a:solidFill>
                <a:srgbClr val="1C1D22"/>
              </a:solidFill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ru-RU" sz="1200">
                <a:solidFill>
                  <a:srgbClr val="1C1D22"/>
                </a:solidFill>
              </a:rPr>
              <a:t>Каждое приглашение идёт по шагам: отправлено → просмотрено → принято → оффер → вышел на работу</a:t>
            </a:r>
            <a:endParaRPr lang="ru-RU" sz="1200">
              <a:solidFill>
                <a:srgbClr val="1C1D22"/>
              </a:solidFill>
            </a:endParaRPr>
          </a:p>
        </p:txBody>
      </p:sp>
      <p:pic>
        <p:nvPicPr>
          <p:cNvPr id="5" name="Рисунок 4" descr="_crop_5_d_need.png"/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128" b="128"/>
          <a:stretch>
            <a:fillRect/>
          </a:stretch>
        </p:blipFill>
        <p:spPr>
          <a:xfrm>
            <a:off x="1210642" y="1577998"/>
            <a:ext cx="4121688" cy="2283975"/>
          </a:xfrm>
        </p:spPr>
      </p:pic>
      <p:pic>
        <p:nvPicPr>
          <p:cNvPr id="6" name="Рисунок 5" descr="_crop_6_d_inv.png"/>
          <p:cNvPicPr>
            <a:picLocks noGrp="1" noChangeAspect="1"/>
          </p:cNvPicPr>
          <p:nvPr>
            <p:ph type="pic" sz="quarter" idx="18"/>
          </p:nvPr>
        </p:nvPicPr>
        <p:blipFill>
          <a:blip r:embed="rId3"/>
          <a:srcRect t="128" b="128"/>
          <a:stretch>
            <a:fillRect/>
          </a:stretch>
        </p:blipFill>
        <p:spPr>
          <a:xfrm>
            <a:off x="6855540" y="1577998"/>
            <a:ext cx="4121688" cy="2283975"/>
          </a:xfrm>
        </p:spPr>
      </p:pic>
      <p:sp>
        <p:nvSpPr>
          <p:cNvPr id="55" name="Заголовок 13"/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 sz="2000" b="1">
                <a:solidFill>
                  <a:srgbClr val="FFFFFF"/>
                </a:solidFill>
              </a:rPr>
              <a:t>Как это выглядит</a:t>
            </a:r>
            <a:endParaRPr lang="ru-RU" sz="20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/>
          <p:cNvSpPr>
            <a:spLocks noGrp="1"/>
          </p:cNvSpPr>
          <p:nvPr>
            <p:ph type="title"/>
          </p:nvPr>
        </p:nvSpPr>
        <p:spPr>
          <a:xfrm>
            <a:off x="533490" y="370426"/>
            <a:ext cx="5562510" cy="442374"/>
          </a:xfrm>
        </p:spPr>
        <p:txBody>
          <a:bodyPr/>
          <a:lstStyle/>
          <a:p>
            <a:r>
              <a:rPr lang="ru-RU" sz="2000" b="1">
                <a:solidFill>
                  <a:srgbClr val="310F53"/>
                </a:solidFill>
              </a:rPr>
              <a:t>Что под капотом</a:t>
            </a:r>
            <a:endParaRPr lang="ru-RU" sz="2000" b="1">
              <a:solidFill>
                <a:srgbClr val="310F53"/>
              </a:solidFill>
            </a:endParaRPr>
          </a:p>
        </p:txBody>
      </p:sp>
      <p:sp>
        <p:nvSpPr>
          <p:cNvPr id="8" name="Текст 7"/>
          <p:cNvSpPr>
            <a:spLocks noGrp="1"/>
          </p:cNvSpPr>
          <p:nvPr>
            <p:ph type="body" sz="quarter" idx="15"/>
          </p:nvPr>
        </p:nvSpPr>
        <p:spPr>
          <a:xfrm>
            <a:off x="521133" y="1695025"/>
            <a:ext cx="11247120" cy="712587"/>
          </a:xfrm>
        </p:spPr>
        <p:txBody>
          <a:bodyPr/>
          <a:lstStyle/>
          <a:p>
            <a:r>
              <a:rPr lang="ru-RU" sz="1300" b="1">
                <a:solidFill>
                  <a:srgbClr val="1C1D22"/>
                </a:solidFill>
              </a:rPr>
              <a:t>Устройство. </a:t>
            </a:r>
            <a:r>
              <a:rPr lang="ru-RU" sz="1300">
                <a:solidFill>
                  <a:srgbClr val="1C1D22"/>
                </a:solidFill>
              </a:rPr>
              <a:t>Сайт на React, сервер на FastAPI, база PostgreSQL — три понятные части</a:t>
            </a:r>
            <a:endParaRPr lang="ru-RU" sz="1300">
              <a:solidFill>
                <a:srgbClr val="1C1D22"/>
              </a:solidFill>
            </a:endParaRPr>
          </a:p>
        </p:txBody>
      </p:sp>
      <p:sp>
        <p:nvSpPr>
          <p:cNvPr id="9" name="Текст 8"/>
          <p:cNvSpPr>
            <a:spLocks noGrp="1"/>
          </p:cNvSpPr>
          <p:nvPr>
            <p:ph type="body" sz="quarter" idx="16"/>
          </p:nvPr>
        </p:nvSpPr>
        <p:spPr>
          <a:xfrm>
            <a:off x="521133" y="2552035"/>
            <a:ext cx="11247120" cy="712587"/>
          </a:xfrm>
        </p:spPr>
        <p:txBody>
          <a:bodyPr/>
          <a:lstStyle/>
          <a:p>
            <a:r>
              <a:rPr lang="ru-RU" sz="1300" b="1">
                <a:solidFill>
                  <a:srgbClr val="1C1D22"/>
                </a:solidFill>
              </a:rPr>
              <a:t>Запуск. </a:t>
            </a:r>
            <a:r>
              <a:rPr lang="ru-RU" sz="1300">
                <a:solidFill>
                  <a:srgbClr val="1C1D22"/>
                </a:solidFill>
              </a:rPr>
              <a:t>Одна команда docker compose up; GPU и платные сервисы не нужны</a:t>
            </a:r>
            <a:endParaRPr lang="ru-RU" sz="1300">
              <a:solidFill>
                <a:srgbClr val="1C1D22"/>
              </a:solidFill>
            </a:endParaRPr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17"/>
          </p:nvPr>
        </p:nvSpPr>
        <p:spPr>
          <a:xfrm>
            <a:off x="521133" y="3409044"/>
            <a:ext cx="11247120" cy="712587"/>
          </a:xfrm>
        </p:spPr>
        <p:txBody>
          <a:bodyPr/>
          <a:lstStyle/>
          <a:p>
            <a:r>
              <a:rPr lang="ru-RU" sz="1300" b="1">
                <a:solidFill>
                  <a:srgbClr val="1C1D22"/>
                </a:solidFill>
              </a:rPr>
              <a:t>API. </a:t>
            </a:r>
            <a:r>
              <a:rPr lang="ru-RU" sz="1300">
                <a:solidFill>
                  <a:srgbClr val="1C1D22"/>
                </a:solidFill>
              </a:rPr>
              <a:t>Все методы описаны в Swagger, есть приём событий от Huntflow</a:t>
            </a:r>
            <a:endParaRPr lang="ru-RU" sz="1300">
              <a:solidFill>
                <a:srgbClr val="1C1D22"/>
              </a:solidFill>
            </a:endParaRPr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18"/>
          </p:nvPr>
        </p:nvSpPr>
        <p:spPr>
          <a:xfrm>
            <a:off x="521133" y="4266053"/>
            <a:ext cx="11247120" cy="712587"/>
          </a:xfrm>
        </p:spPr>
        <p:txBody>
          <a:bodyPr/>
          <a:lstStyle/>
          <a:p>
            <a:r>
              <a:rPr lang="ru-RU" sz="1300" b="1">
                <a:solidFill>
                  <a:srgbClr val="1C1D22"/>
                </a:solidFill>
              </a:rPr>
              <a:t>Данные. </a:t>
            </a:r>
            <a:r>
              <a:rPr lang="ru-RU" sz="1300">
                <a:solidFill>
                  <a:srgbClr val="1C1D22"/>
                </a:solidFill>
              </a:rPr>
              <a:t>Согласия по 152-ФЗ, обезличенные карточки, пароли хранятся в виде хешей</a:t>
            </a:r>
            <a:endParaRPr lang="ru-RU" sz="1300">
              <a:solidFill>
                <a:srgbClr val="1C1D22"/>
              </a:solidFill>
            </a:endParaRPr>
          </a:p>
        </p:txBody>
      </p:sp>
      <p:sp>
        <p:nvSpPr>
          <p:cNvPr id="12" name="Текст 11"/>
          <p:cNvSpPr>
            <a:spLocks noGrp="1"/>
          </p:cNvSpPr>
          <p:nvPr>
            <p:ph type="body" sz="quarter" idx="19"/>
          </p:nvPr>
        </p:nvSpPr>
        <p:spPr>
          <a:xfrm>
            <a:off x="521133" y="5123063"/>
            <a:ext cx="11247120" cy="712587"/>
          </a:xfrm>
        </p:spPr>
        <p:txBody>
          <a:bodyPr/>
          <a:lstStyle/>
          <a:p>
            <a:r>
              <a:rPr lang="ru-RU" sz="1300" b="1">
                <a:solidFill>
                  <a:srgbClr val="1C1D22"/>
                </a:solidFill>
              </a:rPr>
              <a:t>Проверка. </a:t>
            </a:r>
            <a:r>
              <a:rPr lang="ru-RU" sz="1300">
                <a:solidFill>
                  <a:srgbClr val="1C1D22"/>
                </a:solidFill>
              </a:rPr>
              <a:t>26 автотестов и скрипт, который пересчитывает все цифры валидации</a:t>
            </a:r>
            <a:endParaRPr lang="ru-RU" sz="1300">
              <a:solidFill>
                <a:srgbClr val="1C1D22"/>
              </a:solidFill>
            </a:endParaRPr>
          </a:p>
        </p:txBody>
      </p:sp>
      <p:sp>
        <p:nvSpPr>
          <p:cNvPr id="21" name="Номер слайда 20"/>
          <p:cNvSpPr>
            <a:spLocks noGrp="1"/>
          </p:cNvSpPr>
          <p:nvPr>
            <p:ph type="sldNum" sz="quarter" idx="4294967295"/>
          </p:nvPr>
        </p:nvSpPr>
        <p:spPr>
          <a:xfrm>
            <a:off x="11441475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</a:fld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2" name="Прямая соединительная линия 1"/>
          <p:cNvCxnSpPr/>
          <p:nvPr/>
        </p:nvCxnSpPr>
        <p:spPr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/>
          <p:cNvCxnSpPr/>
          <p:nvPr/>
        </p:nvCxnSpPr>
        <p:spPr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/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3888" y="1556279"/>
            <a:ext cx="10789619" cy="3745441"/>
          </a:xfrm>
        </p:spPr>
        <p:txBody>
          <a:bodyPr/>
          <a:lstStyle/>
          <a:p>
            <a:r>
              <a:rPr lang="ru-RU" sz="2000" b="1">
                <a:solidFill>
                  <a:srgbClr val="1C1D22"/>
                </a:solidFill>
              </a:rPr>
              <a:t>ФСП ID. </a:t>
            </a:r>
            <a:r>
              <a:rPr lang="ru-RU" sz="2000">
                <a:solidFill>
                  <a:srgbClr val="1C1D22"/>
                </a:solidFill>
              </a:rPr>
              <a:t>Подключить настоящий ФСП ID и реестр, когда ФСП откроет доступ</a:t>
            </a:r>
            <a:endParaRPr lang="ru-RU" sz="2000">
              <a:solidFill>
                <a:srgbClr val="1C1D22"/>
              </a:solidFill>
            </a:endParaRPr>
          </a:p>
          <a:p>
            <a:r>
              <a:rPr lang="ru-RU" sz="2000" b="1">
                <a:solidFill>
                  <a:srgbClr val="1C1D22"/>
                </a:solidFill>
              </a:rPr>
              <a:t>Задачи с кодом. </a:t>
            </a:r>
            <a:r>
              <a:rPr lang="ru-RU" sz="2000">
                <a:solidFill>
                  <a:srgbClr val="1C1D22"/>
                </a:solidFill>
              </a:rPr>
              <a:t>Добавить песочницу, где кандидат пишет и запускает код</a:t>
            </a:r>
            <a:endParaRPr lang="ru-RU" sz="2000">
              <a:solidFill>
                <a:srgbClr val="1C1D22"/>
              </a:solidFill>
            </a:endParaRPr>
          </a:p>
          <a:p>
            <a:r>
              <a:rPr lang="ru-RU" sz="2000" b="1">
                <a:solidFill>
                  <a:srgbClr val="1C1D22"/>
                </a:solidFill>
              </a:rPr>
              <a:t>Пилот. </a:t>
            </a:r>
            <a:r>
              <a:rPr lang="ru-RU" sz="2000">
                <a:solidFill>
                  <a:srgbClr val="1C1D22"/>
                </a:solidFill>
              </a:rPr>
              <a:t>Проверить тест и подбор на реальных кандидатах и компаниях</a:t>
            </a:r>
            <a:endParaRPr lang="ru-RU" sz="2000">
              <a:solidFill>
                <a:srgbClr val="1C1D22"/>
              </a:solidFill>
            </a:endParaRPr>
          </a:p>
          <a:p>
            <a:r>
              <a:rPr lang="ru-RU" sz="2000" b="1">
                <a:solidFill>
                  <a:srgbClr val="1C1D22"/>
                </a:solidFill>
              </a:rPr>
              <a:t>Доверие. </a:t>
            </a:r>
            <a:r>
              <a:rPr lang="ru-RU" sz="2000">
                <a:solidFill>
                  <a:srgbClr val="1C1D22"/>
                </a:solidFill>
              </a:rPr>
              <a:t>Сверять компании с ЕГРЮЛ и разбирать жалобы вручную</a:t>
            </a:r>
            <a:endParaRPr lang="ru-RU" sz="2000">
              <a:solidFill>
                <a:srgbClr val="1C1D22"/>
              </a:solidFill>
            </a:endParaRPr>
          </a:p>
          <a:p>
            <a:r>
              <a:rPr lang="ru-RU" sz="2000" b="1">
                <a:solidFill>
                  <a:srgbClr val="1C1D22"/>
                </a:solidFill>
              </a:rPr>
              <a:t>Ссылки. </a:t>
            </a:r>
            <a:r>
              <a:rPr lang="ru-RU" sz="2000">
                <a:solidFill>
                  <a:srgbClr val="1C1D22"/>
                </a:solidFill>
              </a:rPr>
              <a:t>github.com/Mi5tR/FSP_Hackathon </a:t>
            </a:r>
            <a:endParaRPr lang="ru-RU" sz="2000">
              <a:solidFill>
                <a:srgbClr val="1C1D22"/>
              </a:solidFill>
            </a:endParaRPr>
          </a:p>
          <a:p>
            <a:endParaRPr sz="2000"/>
          </a:p>
          <a:p>
            <a:r>
              <a:rPr lang="ru-RU" sz="2000" b="1">
                <a:solidFill>
                  <a:srgbClr val="1C1D22"/>
                </a:solidFill>
              </a:rPr>
              <a:t>Спасибо! </a:t>
            </a:r>
            <a:r>
              <a:rPr lang="ru-RU" sz="2000">
                <a:solidFill>
                  <a:srgbClr val="1C1D22"/>
                </a:solidFill>
              </a:rPr>
              <a:t>Будем рады вопросам.</a:t>
            </a:r>
            <a:endParaRPr lang="ru-RU" sz="2000">
              <a:solidFill>
                <a:srgbClr val="1C1D22"/>
              </a:solidFill>
            </a:endParaRPr>
          </a:p>
        </p:txBody>
      </p:sp>
      <p:sp>
        <p:nvSpPr>
          <p:cNvPr id="21" name="Номер слайда 20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3104" y="414049"/>
            <a:ext cx="5994696" cy="552061"/>
          </a:xfrm>
        </p:spPr>
        <p:txBody>
          <a:bodyPr/>
          <a:lstStyle/>
          <a:p>
            <a:r>
              <a:rPr lang="ru-RU" sz="2400" b="1">
                <a:solidFill>
                  <a:srgbClr val="FFFFFF"/>
                </a:solidFill>
              </a:rPr>
              <a:t>Что дальше</a:t>
            </a:r>
            <a:endParaRPr lang="ru-RU" sz="24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7.64393700787394,&quot;left&quot;:536.0651181102362,&quot;top&quot;:176.3803937007874,&quot;width&quot;:391.6648818897637}"/>
</p:tagLst>
</file>

<file path=ppt/tags/tag2.xml><?xml version="1.0" encoding="utf-8"?>
<p:tagLst xmlns:p="http://schemas.openxmlformats.org/presentationml/2006/main">
  <p:tag name="KSO_WM_DIAGRAM_VIRTUALLY_FRAME" val="{&quot;height&quot;:277.64393700787394,&quot;left&quot;:536.0651181102362,&quot;top&quot;:176.3803937007874,&quot;width&quot;:391.6648818897637}"/>
</p:tagLst>
</file>

<file path=ppt/tags/tag3.xml><?xml version="1.0" encoding="utf-8"?>
<p:tagLst xmlns:p="http://schemas.openxmlformats.org/presentationml/2006/main">
  <p:tag name="KSO_WM_DIAGRAM_VIRTUALLY_FRAME" val="{&quot;height&quot;:277.64393700787394,&quot;left&quot;:536.0651181102362,&quot;top&quot;:176.3803937007874,&quot;width&quot;:391.6648818897637}"/>
</p:tagLst>
</file>

<file path=ppt/tags/tag4.xml><?xml version="1.0" encoding="utf-8"?>
<p:tagLst xmlns:p="http://schemas.openxmlformats.org/presentationml/2006/main">
  <p:tag name="KSO_WM_DIAGRAM_VIRTUALLY_FRAME" val="{&quot;height&quot;:277.64393700787394,&quot;left&quot;:536.0651181102362,&quot;top&quot;:176.3803937007874,&quot;width&quot;:391.6648818897637}"/>
</p:tagLst>
</file>

<file path=ppt/tags/tag5.xml><?xml version="1.0" encoding="utf-8"?>
<p:tagLst xmlns:p="http://schemas.openxmlformats.org/presentationml/2006/main">
  <p:tag name="KSO_WM_DIAGRAM_VIRTUALLY_FRAME" val="{&quot;height&quot;:277.64393700787394,&quot;left&quot;:536.0651181102362,&quot;top&quot;:176.3803937007874,&quot;width&quot;:391.6648818897637}"/>
</p:tagLst>
</file>

<file path=ppt/tags/tag6.xml><?xml version="1.0" encoding="utf-8"?>
<p:tagLst xmlns:p="http://schemas.openxmlformats.org/presentationml/2006/main">
  <p:tag name="KSO_WM_DIAGRAM_VIRTUALLY_FRAME" val="{&quot;height&quot;:277.64393700787394,&quot;left&quot;:536.0651181102362,&quot;top&quot;:176.3803937007874,&quot;width&quot;:391.6648818897637}"/>
</p:tagLst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7726</Words>
  <Application>WPS 演示</Application>
  <PresentationFormat>Широкоэкранный</PresentationFormat>
  <Paragraphs>333</Paragraphs>
  <Slides>17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Arial</vt:lpstr>
      <vt:lpstr>SimSun</vt:lpstr>
      <vt:lpstr>Wingdings</vt:lpstr>
      <vt:lpstr>Amatic SC</vt:lpstr>
      <vt:lpstr>Liberation Mono</vt:lpstr>
      <vt:lpstr>Lato Light</vt:lpstr>
      <vt:lpstr>Poppins Light</vt:lpstr>
      <vt:lpstr>Montserrat</vt:lpstr>
      <vt:lpstr>Microsoft YaHei</vt:lpstr>
      <vt:lpstr>Arial Unicode MS</vt:lpstr>
      <vt:lpstr>Calibri</vt:lpstr>
      <vt:lpstr>等线</vt:lpstr>
      <vt:lpstr>Для Академия инноваторов 16_9</vt:lpstr>
      <vt:lpstr>команда «[название команды]»</vt:lpstr>
      <vt:lpstr>Коротко о нас</vt:lpstr>
      <vt:lpstr>Команда</vt:lpstr>
      <vt:lpstr>Как мы работали</vt:lpstr>
      <vt:lpstr>КОРОТКО О РЕШЕНИИ</vt:lpstr>
      <vt:lpstr>Работодатель приходит сам</vt:lpstr>
      <vt:lpstr>Путь от регистрации до оффера</vt:lpstr>
      <vt:lpstr>Как устроен тест</vt:lpstr>
      <vt:lpstr>Насколько тест точен</vt:lpstr>
      <vt:lpstr>Как устроен подбор</vt:lpstr>
      <vt:lpstr>Насколько хорошо подбираем</vt:lpstr>
      <vt:lpstr>Что даёт участие в ФСП</vt:lpstr>
      <vt:lpstr>Защита от фейков</vt:lpstr>
      <vt:lpstr>Где помогает машинное обучение</vt:lpstr>
      <vt:lpstr>Как это выглядит</vt:lpstr>
      <vt:lpstr>Что под капотом</vt:lpstr>
      <vt:lpstr>Что дальше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HONOR</cp:lastModifiedBy>
  <cp:revision>98</cp:revision>
  <dcterms:created xsi:type="dcterms:W3CDTF">2023-05-15T07:36:00Z</dcterms:created>
  <dcterms:modified xsi:type="dcterms:W3CDTF">2026-10-11T16:46:21Z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1B7DE3E8823448DEA5CA39A3194C2ED1_12</vt:lpwstr>
  </property>
  <property fmtid="{D5CDD505-2E9C-101B-9397-08002B2CF9AE}" pid="3" name="KSOProductBuildVer">
    <vt:lpwstr>2052-12.1.0.19302</vt:lpwstr>
  </property>
</Properties>
</file>